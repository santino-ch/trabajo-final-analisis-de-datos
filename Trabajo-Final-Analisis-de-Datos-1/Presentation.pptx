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7" r:id="rId6"/>
    <p:sldId id="264" r:id="rId7"/>
    <p:sldId id="275" r:id="rId8"/>
    <p:sldId id="262" r:id="rId9"/>
    <p:sldId id="268" r:id="rId10"/>
    <p:sldId id="265" r:id="rId11"/>
    <p:sldId id="263" r:id="rId12"/>
    <p:sldId id="272" r:id="rId13"/>
    <p:sldId id="273" r:id="rId14"/>
    <p:sldId id="270" r:id="rId15"/>
    <p:sldId id="269" r:id="rId16"/>
    <p:sldId id="271" r:id="rId17"/>
    <p:sldId id="276" r:id="rId1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23ED2B-2BBE-6E39-B77D-6A317463A319}" v="1106" dt="2026-09-14T00:24:51.516"/>
    <p1510:client id="{D83530BD-1D7D-0D35-7EAC-EC0AC9DE6B30}" v="35" dt="2026-09-14T22:24:19.3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hyperlink" Target="https://www.kaggle.com/datasets/siddharthm1698/ddos-botnet-attack-on-iot-devices" TargetMode="External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hyperlink" Target="https://www.kaggle.com/datasets/siddharthm1698/ddos-botnet-attack-on-iot-devices" TargetMode="External"/><Relationship Id="rId1" Type="http://schemas.openxmlformats.org/officeDocument/2006/relationships/image" Target="../media/image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F354CD-93C7-4F0A-AC57-F66393CDAF73}" type="doc">
      <dgm:prSet loTypeId="urn:microsoft.com/office/officeart/2005/8/layout/vList2" loCatId="list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EDFA072F-7A52-45BE-A14E-DB88CB55068E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600" dirty="0">
              <a:solidFill>
                <a:srgbClr val="FFFFFF"/>
              </a:solidFill>
              <a:latin typeface="Aptos"/>
              <a:ea typeface="+mn-ea"/>
              <a:cs typeface="+mn-cs"/>
            </a:rPr>
            <a:t>¿Qué patrones del tráfico de red permiten diferenciar el tráfico normal de los distintos tipos de ataques DDoS en dispositivos IoT?¿Por que?</a:t>
          </a:r>
        </a:p>
      </dgm:t>
    </dgm:pt>
    <dgm:pt modelId="{46B2AEB7-5D7E-4F51-88A3-9F26BFFB107A}" type="parTrans" cxnId="{D10B5BEB-9660-43D1-AC79-BA4C814AD955}">
      <dgm:prSet/>
      <dgm:spPr/>
      <dgm:t>
        <a:bodyPr/>
        <a:lstStyle/>
        <a:p>
          <a:endParaRPr lang="en-US"/>
        </a:p>
      </dgm:t>
    </dgm:pt>
    <dgm:pt modelId="{2D82064B-CB3B-4DF4-AA00-E6C7121E1FD8}" type="sibTrans" cxnId="{D10B5BEB-9660-43D1-AC79-BA4C814AD955}">
      <dgm:prSet/>
      <dgm:spPr/>
      <dgm:t>
        <a:bodyPr/>
        <a:lstStyle/>
        <a:p>
          <a:endParaRPr lang="en-US"/>
        </a:p>
      </dgm:t>
    </dgm:pt>
    <dgm:pt modelId="{89BB7C5A-B5FC-45E9-A831-70180E22F495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6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¿</a:t>
          </a:r>
          <a:r>
            <a:rPr lang="en-US" sz="26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Que</a:t>
          </a:r>
          <a:r>
            <a:rPr lang="en-US" sz="26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variables </a:t>
          </a:r>
          <a:r>
            <a:rPr lang="en-US" sz="26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resultan</a:t>
          </a:r>
          <a:r>
            <a:rPr lang="en-US" sz="26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mas </a:t>
          </a:r>
          <a:r>
            <a:rPr lang="en-US" sz="26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significativas</a:t>
          </a:r>
          <a:r>
            <a:rPr lang="en-US" sz="26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</a:t>
          </a:r>
          <a:r>
            <a:rPr lang="en-US" sz="26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que</a:t>
          </a:r>
          <a:r>
            <a:rPr lang="en-US" sz="26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</a:t>
          </a:r>
          <a:r>
            <a:rPr lang="en-US" sz="26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otras</a:t>
          </a:r>
          <a:r>
            <a:rPr lang="en-US" sz="26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?</a:t>
          </a:r>
        </a:p>
      </dgm:t>
    </dgm:pt>
    <dgm:pt modelId="{FFF74D5D-9A2A-43B8-A55B-58DB01F37116}" type="parTrans" cxnId="{9415A0C9-1108-400A-9E36-76BE04FDD9ED}">
      <dgm:prSet/>
      <dgm:spPr/>
      <dgm:t>
        <a:bodyPr/>
        <a:lstStyle/>
        <a:p>
          <a:endParaRPr lang="en-US"/>
        </a:p>
      </dgm:t>
    </dgm:pt>
    <dgm:pt modelId="{3424B247-6B6C-4B13-8EA4-F6A175D07DB2}" type="sibTrans" cxnId="{9415A0C9-1108-400A-9E36-76BE04FDD9ED}">
      <dgm:prSet/>
      <dgm:spPr/>
      <dgm:t>
        <a:bodyPr/>
        <a:lstStyle/>
        <a:p>
          <a:endParaRPr lang="en-US"/>
        </a:p>
      </dgm:t>
    </dgm:pt>
    <dgm:pt modelId="{BD2F1326-99E0-412C-9D77-9ED31305876F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6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¿</a:t>
          </a:r>
          <a:r>
            <a:rPr lang="en-US" sz="26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Puede</a:t>
          </a:r>
          <a:r>
            <a:rPr lang="en-US" sz="26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un </a:t>
          </a:r>
          <a:r>
            <a:rPr lang="en-US" sz="26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modelo</a:t>
          </a:r>
          <a:r>
            <a:rPr lang="en-US" sz="26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de Machine Learning ser </a:t>
          </a:r>
          <a:r>
            <a:rPr lang="en-US" sz="26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entrenado</a:t>
          </a:r>
          <a:r>
            <a:rPr lang="en-US" sz="26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con </a:t>
          </a:r>
          <a:r>
            <a:rPr lang="en-US" sz="26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trafico</a:t>
          </a:r>
          <a:r>
            <a:rPr lang="en-US" sz="26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similar para </a:t>
          </a:r>
          <a:r>
            <a:rPr lang="en-US" sz="26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predecir</a:t>
          </a:r>
          <a:r>
            <a:rPr lang="en-US" sz="26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</a:t>
          </a:r>
          <a:r>
            <a:rPr lang="en-US" sz="26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ataques</a:t>
          </a:r>
          <a:r>
            <a:rPr lang="en-US" sz="26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?</a:t>
          </a:r>
        </a:p>
      </dgm:t>
    </dgm:pt>
    <dgm:pt modelId="{B2981C31-4883-48C9-AACC-8A67802C3613}" type="parTrans" cxnId="{2649E0EF-ED17-4E2E-A427-422D5B9F3B7F}">
      <dgm:prSet/>
      <dgm:spPr/>
      <dgm:t>
        <a:bodyPr/>
        <a:lstStyle/>
        <a:p>
          <a:endParaRPr lang="en-US"/>
        </a:p>
      </dgm:t>
    </dgm:pt>
    <dgm:pt modelId="{4EF7336F-4C6E-46FA-9407-6CE81BD97C0F}" type="sibTrans" cxnId="{2649E0EF-ED17-4E2E-A427-422D5B9F3B7F}">
      <dgm:prSet/>
      <dgm:spPr/>
      <dgm:t>
        <a:bodyPr/>
        <a:lstStyle/>
        <a:p>
          <a:endParaRPr lang="en-US"/>
        </a:p>
      </dgm:t>
    </dgm:pt>
    <dgm:pt modelId="{8A9EDC0A-EC4D-41F8-B39C-AF1AD5570595}" type="pres">
      <dgm:prSet presAssocID="{DBF354CD-93C7-4F0A-AC57-F66393CDAF73}" presName="linear" presStyleCnt="0">
        <dgm:presLayoutVars>
          <dgm:animLvl val="lvl"/>
          <dgm:resizeHandles val="exact"/>
        </dgm:presLayoutVars>
      </dgm:prSet>
      <dgm:spPr/>
    </dgm:pt>
    <dgm:pt modelId="{CB6AFA7D-A9F0-447F-910C-3281679F1E9F}" type="pres">
      <dgm:prSet presAssocID="{EDFA072F-7A52-45BE-A14E-DB88CB55068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9CE45DE-F10A-4B76-A7C2-E50FF4DCAFA2}" type="pres">
      <dgm:prSet presAssocID="{2D82064B-CB3B-4DF4-AA00-E6C7121E1FD8}" presName="spacer" presStyleCnt="0"/>
      <dgm:spPr/>
    </dgm:pt>
    <dgm:pt modelId="{923C1182-2CB9-4B37-A4C2-62D01493B14C}" type="pres">
      <dgm:prSet presAssocID="{89BB7C5A-B5FC-45E9-A831-70180E22F49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6D284B0-2C90-47A2-AF6D-7B4EC8788C00}" type="pres">
      <dgm:prSet presAssocID="{3424B247-6B6C-4B13-8EA4-F6A175D07DB2}" presName="spacer" presStyleCnt="0"/>
      <dgm:spPr/>
    </dgm:pt>
    <dgm:pt modelId="{0B971227-243E-4145-994D-7B85D95B71DD}" type="pres">
      <dgm:prSet presAssocID="{BD2F1326-99E0-412C-9D77-9ED31305876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0203930-7732-49C2-8F3F-5D4CDB203DB9}" type="presOf" srcId="{BD2F1326-99E0-412C-9D77-9ED31305876F}" destId="{0B971227-243E-4145-994D-7B85D95B71DD}" srcOrd="0" destOrd="0" presId="urn:microsoft.com/office/officeart/2005/8/layout/vList2"/>
    <dgm:cxn modelId="{498E626C-43EC-48AB-B6C8-C34835CEFF2C}" type="presOf" srcId="{EDFA072F-7A52-45BE-A14E-DB88CB55068E}" destId="{CB6AFA7D-A9F0-447F-910C-3281679F1E9F}" srcOrd="0" destOrd="0" presId="urn:microsoft.com/office/officeart/2005/8/layout/vList2"/>
    <dgm:cxn modelId="{18413EB6-AFE6-4876-965B-BA2F7BB39207}" type="presOf" srcId="{DBF354CD-93C7-4F0A-AC57-F66393CDAF73}" destId="{8A9EDC0A-EC4D-41F8-B39C-AF1AD5570595}" srcOrd="0" destOrd="0" presId="urn:microsoft.com/office/officeart/2005/8/layout/vList2"/>
    <dgm:cxn modelId="{23369DC2-4676-49AE-91C9-1CC05212214C}" type="presOf" srcId="{89BB7C5A-B5FC-45E9-A831-70180E22F495}" destId="{923C1182-2CB9-4B37-A4C2-62D01493B14C}" srcOrd="0" destOrd="0" presId="urn:microsoft.com/office/officeart/2005/8/layout/vList2"/>
    <dgm:cxn modelId="{9415A0C9-1108-400A-9E36-76BE04FDD9ED}" srcId="{DBF354CD-93C7-4F0A-AC57-F66393CDAF73}" destId="{89BB7C5A-B5FC-45E9-A831-70180E22F495}" srcOrd="1" destOrd="0" parTransId="{FFF74D5D-9A2A-43B8-A55B-58DB01F37116}" sibTransId="{3424B247-6B6C-4B13-8EA4-F6A175D07DB2}"/>
    <dgm:cxn modelId="{D10B5BEB-9660-43D1-AC79-BA4C814AD955}" srcId="{DBF354CD-93C7-4F0A-AC57-F66393CDAF73}" destId="{EDFA072F-7A52-45BE-A14E-DB88CB55068E}" srcOrd="0" destOrd="0" parTransId="{46B2AEB7-5D7E-4F51-88A3-9F26BFFB107A}" sibTransId="{2D82064B-CB3B-4DF4-AA00-E6C7121E1FD8}"/>
    <dgm:cxn modelId="{2649E0EF-ED17-4E2E-A427-422D5B9F3B7F}" srcId="{DBF354CD-93C7-4F0A-AC57-F66393CDAF73}" destId="{BD2F1326-99E0-412C-9D77-9ED31305876F}" srcOrd="2" destOrd="0" parTransId="{B2981C31-4883-48C9-AACC-8A67802C3613}" sibTransId="{4EF7336F-4C6E-46FA-9407-6CE81BD97C0F}"/>
    <dgm:cxn modelId="{8470FEAA-29D7-43D9-8675-2A728001050E}" type="presParOf" srcId="{8A9EDC0A-EC4D-41F8-B39C-AF1AD5570595}" destId="{CB6AFA7D-A9F0-447F-910C-3281679F1E9F}" srcOrd="0" destOrd="0" presId="urn:microsoft.com/office/officeart/2005/8/layout/vList2"/>
    <dgm:cxn modelId="{34781C2E-162E-4A6B-BCC1-7EC431C34B4C}" type="presParOf" srcId="{8A9EDC0A-EC4D-41F8-B39C-AF1AD5570595}" destId="{19CE45DE-F10A-4B76-A7C2-E50FF4DCAFA2}" srcOrd="1" destOrd="0" presId="urn:microsoft.com/office/officeart/2005/8/layout/vList2"/>
    <dgm:cxn modelId="{163CA47A-3A91-4DA5-BADB-F37A125A2BDF}" type="presParOf" srcId="{8A9EDC0A-EC4D-41F8-B39C-AF1AD5570595}" destId="{923C1182-2CB9-4B37-A4C2-62D01493B14C}" srcOrd="2" destOrd="0" presId="urn:microsoft.com/office/officeart/2005/8/layout/vList2"/>
    <dgm:cxn modelId="{C2E41B55-0566-43A6-8C83-513FBA43BF2A}" type="presParOf" srcId="{8A9EDC0A-EC4D-41F8-B39C-AF1AD5570595}" destId="{76D284B0-2C90-47A2-AF6D-7B4EC8788C00}" srcOrd="3" destOrd="0" presId="urn:microsoft.com/office/officeart/2005/8/layout/vList2"/>
    <dgm:cxn modelId="{F4E6DDBB-ABBF-46F7-814A-E0BF187F9EA2}" type="presParOf" srcId="{8A9EDC0A-EC4D-41F8-B39C-AF1AD5570595}" destId="{0B971227-243E-4145-994D-7B85D95B71D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803431F-9E85-4C54-840B-C0479B8BB9F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1_2" csCatId="accent1" phldr="1"/>
      <dgm:spPr/>
      <dgm:t>
        <a:bodyPr/>
        <a:lstStyle/>
        <a:p>
          <a:endParaRPr lang="en-US"/>
        </a:p>
      </dgm:t>
    </dgm:pt>
    <dgm:pt modelId="{5B865754-D0AB-44FD-B740-6D2AF6A894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hlinkClick xmlns:r="http://schemas.openxmlformats.org/officeDocument/2006/relationships" r:id="rId1"/>
            </a:rPr>
            <a:t>Dataset</a:t>
          </a:r>
          <a:r>
            <a:rPr lang="en-US" dirty="0"/>
            <a:t> extraido de Kaggle, </a:t>
          </a:r>
          <a:r>
            <a:rPr lang="en-US" dirty="0" err="1"/>
            <a:t>subido</a:t>
          </a:r>
          <a:r>
            <a:rPr lang="en-US" dirty="0"/>
            <a:t> </a:t>
          </a:r>
          <a:r>
            <a:rPr lang="en-US" dirty="0" err="1"/>
            <a:t>por</a:t>
          </a:r>
          <a:r>
            <a:rPr lang="en-US" dirty="0"/>
            <a:t> SIDDHARTH M</a:t>
          </a:r>
          <a:r>
            <a:rPr lang="en-US" sz="1800" dirty="0">
              <a:latin typeface="Aptos Display"/>
              <a:ea typeface="Calibri"/>
              <a:cs typeface="Calibri"/>
            </a:rPr>
            <a:t>.</a:t>
          </a:r>
          <a:endParaRPr lang="en-US" sz="1100" dirty="0">
            <a:latin typeface="Aptos Display"/>
            <a:ea typeface="Calibri"/>
            <a:cs typeface="Calibri"/>
          </a:endParaRPr>
        </a:p>
      </dgm:t>
    </dgm:pt>
    <dgm:pt modelId="{27C73815-499F-4108-99B5-17E5B88C3CFA}" type="parTrans" cxnId="{EBACA597-30CD-469B-B7CA-F81E9F19EB03}">
      <dgm:prSet/>
      <dgm:spPr/>
      <dgm:t>
        <a:bodyPr/>
        <a:lstStyle/>
        <a:p>
          <a:endParaRPr lang="en-US"/>
        </a:p>
      </dgm:t>
    </dgm:pt>
    <dgm:pt modelId="{3715716C-DFE7-4D8A-8B5E-A89AC4CD1A0F}" type="sibTrans" cxnId="{EBACA597-30CD-469B-B7CA-F81E9F19EB03}">
      <dgm:prSet/>
      <dgm:spPr/>
      <dgm:t>
        <a:bodyPr/>
        <a:lstStyle/>
        <a:p>
          <a:endParaRPr lang="en-US"/>
        </a:p>
      </dgm:t>
    </dgm:pt>
    <dgm:pt modelId="{CB7BBE8B-35A3-4E7E-97FB-5911E39A42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1.927.101 </a:t>
          </a:r>
          <a:r>
            <a:rPr lang="en-US" dirty="0" err="1"/>
            <a:t>Registros</a:t>
          </a:r>
          <a:r>
            <a:rPr lang="en-US" dirty="0"/>
            <a:t> </a:t>
          </a:r>
          <a:r>
            <a:rPr lang="en-US" dirty="0" err="1"/>
            <a:t>distribuidos</a:t>
          </a:r>
          <a:r>
            <a:rPr lang="en-US" dirty="0"/>
            <a:t>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>
              <a:latin typeface="Aptos Display" panose="02110004020202020204"/>
            </a:rPr>
            <a:t>47</a:t>
          </a:r>
          <a:r>
            <a:rPr lang="en-US" dirty="0"/>
            <a:t> columnas.</a:t>
          </a:r>
        </a:p>
      </dgm:t>
    </dgm:pt>
    <dgm:pt modelId="{2C67FA6A-29A5-4CC9-9665-2E0AAD0021C2}" type="parTrans" cxnId="{5E0A6AFE-646E-44E7-8339-51C71F4AB654}">
      <dgm:prSet/>
      <dgm:spPr/>
      <dgm:t>
        <a:bodyPr/>
        <a:lstStyle/>
        <a:p>
          <a:endParaRPr lang="en-US"/>
        </a:p>
      </dgm:t>
    </dgm:pt>
    <dgm:pt modelId="{99D410D3-3EED-4D1E-8F99-F77703458387}" type="sibTrans" cxnId="{5E0A6AFE-646E-44E7-8339-51C71F4AB654}">
      <dgm:prSet/>
      <dgm:spPr/>
      <dgm:t>
        <a:bodyPr/>
        <a:lstStyle/>
        <a:p>
          <a:endParaRPr lang="en-US"/>
        </a:p>
      </dgm:t>
    </dgm:pt>
    <dgm:pt modelId="{63286878-D54B-4A33-BD68-058EC8DFA53E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sz="1100" dirty="0">
              <a:latin typeface="Calibri"/>
              <a:ea typeface="Calibri"/>
              <a:cs typeface="Calibri"/>
            </a:rPr>
            <a:t>Bot-</a:t>
          </a:r>
          <a:r>
            <a:rPr lang="en-US" sz="1100" dirty="0" err="1">
              <a:latin typeface="Calibri"/>
              <a:ea typeface="Calibri"/>
              <a:cs typeface="Calibri"/>
            </a:rPr>
            <a:t>Iot</a:t>
          </a:r>
          <a:r>
            <a:rPr lang="en-US" sz="1100" dirty="0">
              <a:latin typeface="Calibri"/>
              <a:ea typeface="Calibri"/>
              <a:cs typeface="Calibri"/>
            </a:rPr>
            <a:t>: El dataset </a:t>
          </a:r>
          <a:r>
            <a:rPr lang="en-US" sz="1100" dirty="0" err="1">
              <a:latin typeface="Calibri"/>
              <a:ea typeface="Calibri"/>
              <a:cs typeface="Calibri"/>
            </a:rPr>
            <a:t>hace</a:t>
          </a:r>
          <a:r>
            <a:rPr lang="en-US" sz="1100" dirty="0">
              <a:latin typeface="Calibri"/>
              <a:ea typeface="Calibri"/>
              <a:cs typeface="Calibri"/>
            </a:rPr>
            <a:t> </a:t>
          </a:r>
          <a:r>
            <a:rPr lang="en-US" sz="1100" dirty="0" err="1">
              <a:latin typeface="Calibri"/>
              <a:ea typeface="Calibri"/>
              <a:cs typeface="Calibri"/>
            </a:rPr>
            <a:t>uso</a:t>
          </a:r>
          <a:r>
            <a:rPr lang="en-US" sz="1100" dirty="0">
              <a:latin typeface="Calibri"/>
              <a:ea typeface="Calibri"/>
              <a:cs typeface="Calibri"/>
            </a:rPr>
            <a:t> de </a:t>
          </a:r>
          <a:r>
            <a:rPr lang="en-US" sz="1100" dirty="0" err="1">
              <a:latin typeface="Calibri"/>
              <a:ea typeface="Calibri"/>
              <a:cs typeface="Calibri"/>
            </a:rPr>
            <a:t>dispositivos</a:t>
          </a:r>
          <a:r>
            <a:rPr lang="en-US" sz="1100" dirty="0">
              <a:latin typeface="Calibri"/>
              <a:ea typeface="Calibri"/>
              <a:cs typeface="Calibri"/>
            </a:rPr>
            <a:t> </a:t>
          </a:r>
          <a:r>
            <a:rPr lang="en-US" sz="1100" dirty="0" err="1">
              <a:latin typeface="Calibri"/>
              <a:ea typeface="Calibri"/>
              <a:cs typeface="Calibri"/>
            </a:rPr>
            <a:t>infectados</a:t>
          </a:r>
          <a:r>
            <a:rPr lang="en-US" sz="1100" dirty="0">
              <a:latin typeface="Calibri"/>
              <a:ea typeface="Calibri"/>
              <a:cs typeface="Calibri"/>
            </a:rPr>
            <a:t> para </a:t>
          </a:r>
          <a:r>
            <a:rPr lang="en-US" sz="1100" dirty="0" err="1">
              <a:latin typeface="Calibri"/>
              <a:ea typeface="Calibri"/>
              <a:cs typeface="Calibri"/>
            </a:rPr>
            <a:t>maximizar</a:t>
          </a:r>
          <a:r>
            <a:rPr lang="en-US" sz="1100" dirty="0">
              <a:latin typeface="Calibri"/>
              <a:ea typeface="Calibri"/>
              <a:cs typeface="Calibri"/>
            </a:rPr>
            <a:t> el </a:t>
          </a:r>
          <a:r>
            <a:rPr lang="en-US" sz="1100" dirty="0" err="1">
              <a:latin typeface="Calibri"/>
              <a:ea typeface="Calibri"/>
              <a:cs typeface="Calibri"/>
            </a:rPr>
            <a:t>alcance</a:t>
          </a:r>
          <a:r>
            <a:rPr lang="en-US" sz="1100" dirty="0">
              <a:latin typeface="Calibri"/>
              <a:ea typeface="Calibri"/>
              <a:cs typeface="Calibri"/>
            </a:rPr>
            <a:t> del </a:t>
          </a:r>
          <a:r>
            <a:rPr lang="en-US" sz="1100" dirty="0" err="1">
              <a:latin typeface="Calibri"/>
              <a:ea typeface="Calibri"/>
              <a:cs typeface="Calibri"/>
            </a:rPr>
            <a:t>ataque</a:t>
          </a:r>
          <a:r>
            <a:rPr lang="en-US" sz="1100" dirty="0">
              <a:latin typeface="Calibri"/>
              <a:ea typeface="Calibri"/>
              <a:cs typeface="Calibri"/>
            </a:rPr>
            <a:t>.</a:t>
          </a:r>
        </a:p>
      </dgm:t>
    </dgm:pt>
    <dgm:pt modelId="{EAD6EDBB-941F-4E44-B197-2313F1803D84}" type="parTrans" cxnId="{B77112DF-3AD6-4B90-A12A-114004936244}">
      <dgm:prSet/>
      <dgm:spPr/>
    </dgm:pt>
    <dgm:pt modelId="{38139AE3-C63D-4762-A9F4-FA90C1A1E5C3}" type="sibTrans" cxnId="{B77112DF-3AD6-4B90-A12A-114004936244}">
      <dgm:prSet/>
      <dgm:spPr/>
    </dgm:pt>
    <dgm:pt modelId="{5AD68289-41F3-4059-854E-DB829E4314D8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sz="1100" dirty="0" err="1">
              <a:latin typeface="Calibri"/>
              <a:ea typeface="Calibri"/>
              <a:cs typeface="Calibri"/>
            </a:rPr>
            <a:t>Metricas</a:t>
          </a:r>
          <a:r>
            <a:rPr lang="en-US" sz="1100" dirty="0">
              <a:latin typeface="Calibri"/>
              <a:ea typeface="Calibri"/>
              <a:cs typeface="Calibri"/>
            </a:rPr>
            <a:t> de </a:t>
          </a:r>
          <a:r>
            <a:rPr lang="en-US" sz="1100" dirty="0" err="1">
              <a:latin typeface="Calibri"/>
              <a:ea typeface="Calibri"/>
              <a:cs typeface="Calibri"/>
            </a:rPr>
            <a:t>Trafico</a:t>
          </a:r>
          <a:r>
            <a:rPr lang="en-US" sz="1100" dirty="0">
              <a:latin typeface="Calibri"/>
              <a:ea typeface="Calibri"/>
              <a:cs typeface="Calibri"/>
            </a:rPr>
            <a:t> DDoS y Trafico normal.</a:t>
          </a:r>
        </a:p>
      </dgm:t>
    </dgm:pt>
    <dgm:pt modelId="{FE2948DA-733F-4A39-B57F-E1AD3CE4B38E}" type="parTrans" cxnId="{1720DD13-7F94-4F57-ABCE-05BE9A62F03C}">
      <dgm:prSet/>
      <dgm:spPr/>
    </dgm:pt>
    <dgm:pt modelId="{893D5CD5-3FE9-4494-A234-A0E848F26B7E}" type="sibTrans" cxnId="{1720DD13-7F94-4F57-ABCE-05BE9A62F03C}">
      <dgm:prSet/>
      <dgm:spPr/>
    </dgm:pt>
    <dgm:pt modelId="{CF72CE46-6586-4B87-84F0-FF483E232006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ptos Display" panose="02110004020202020204"/>
            </a:rPr>
            <a:t>Variables Principales: </a:t>
          </a:r>
          <a:r>
            <a:rPr lang="en-US" dirty="0"/>
            <a:t>destination_port, source/destination_address, total_packets_from_sourceip/destip, num_incoming.connection_per</a:t>
          </a:r>
          <a:r>
            <a:rPr lang="en-US" dirty="0">
              <a:latin typeface="Aptos Display" panose="02110004020202020204"/>
            </a:rPr>
            <a:t>_destip/sourceip)</a:t>
          </a:r>
          <a:endParaRPr lang="en-US" dirty="0"/>
        </a:p>
      </dgm:t>
    </dgm:pt>
    <dgm:pt modelId="{0950A4CE-BE21-43B6-9EE2-EAE877245CC2}" type="parTrans" cxnId="{CF046CDA-6152-4E56-87DB-299E24D5E9EF}">
      <dgm:prSet/>
      <dgm:spPr/>
    </dgm:pt>
    <dgm:pt modelId="{17311F65-5944-43DF-BF4A-D9097E8BCED6}" type="sibTrans" cxnId="{CF046CDA-6152-4E56-87DB-299E24D5E9EF}">
      <dgm:prSet/>
      <dgm:spPr/>
    </dgm:pt>
    <dgm:pt modelId="{57CEF72C-37FE-4A56-B791-06D3E79DBAA9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ptos Display" panose="02110004020202020204"/>
            </a:rPr>
            <a:t>2 IP's de </a:t>
          </a:r>
          <a:r>
            <a:rPr lang="en-US" dirty="0" err="1">
              <a:latin typeface="Aptos Display" panose="02110004020202020204"/>
            </a:rPr>
            <a:t>interes</a:t>
          </a:r>
          <a:r>
            <a:rPr lang="en-US" dirty="0">
              <a:latin typeface="Aptos Display" panose="02110004020202020204"/>
            </a:rPr>
            <a:t>, 192.168.100.3 y 192.168.100.n</a:t>
          </a:r>
        </a:p>
      </dgm:t>
    </dgm:pt>
    <dgm:pt modelId="{D21AB05D-D199-44C6-82F0-AB42641E365B}" type="parTrans" cxnId="{D81C1FE4-EE0A-45C0-B52E-68B4187F4821}">
      <dgm:prSet/>
      <dgm:spPr/>
    </dgm:pt>
    <dgm:pt modelId="{BE97EF1B-4094-494C-8A29-A6CFD8E5C9DF}" type="sibTrans" cxnId="{D81C1FE4-EE0A-45C0-B52E-68B4187F4821}">
      <dgm:prSet/>
      <dgm:spPr/>
    </dgm:pt>
    <dgm:pt modelId="{3738560B-9584-47E4-BE31-04CC5B25889A}" type="pres">
      <dgm:prSet presAssocID="{D803431F-9E85-4C54-840B-C0479B8BB9F3}" presName="root" presStyleCnt="0">
        <dgm:presLayoutVars>
          <dgm:dir/>
          <dgm:resizeHandles val="exact"/>
        </dgm:presLayoutVars>
      </dgm:prSet>
      <dgm:spPr/>
    </dgm:pt>
    <dgm:pt modelId="{E470B4A9-94B8-4735-8900-1DE748A2E5E4}" type="pres">
      <dgm:prSet presAssocID="{5B865754-D0AB-44FD-B740-6D2AF6A894F4}" presName="compNode" presStyleCnt="0"/>
      <dgm:spPr/>
    </dgm:pt>
    <dgm:pt modelId="{2D8E0E13-430D-4465-8B47-77618EF3E0E8}" type="pres">
      <dgm:prSet presAssocID="{5B865754-D0AB-44FD-B740-6D2AF6A894F4}" presName="bgRect" presStyleLbl="bgShp" presStyleIdx="0" presStyleCnt="6"/>
      <dgm:spPr/>
    </dgm:pt>
    <dgm:pt modelId="{ABA1660D-1137-45A9-B3EF-181F74417BC9}" type="pres">
      <dgm:prSet presAssocID="{5B865754-D0AB-44FD-B740-6D2AF6A894F4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219B33A2-994D-4DB8-9DB8-EBEF3E38BA68}" type="pres">
      <dgm:prSet presAssocID="{5B865754-D0AB-44FD-B740-6D2AF6A894F4}" presName="spaceRect" presStyleCnt="0"/>
      <dgm:spPr/>
    </dgm:pt>
    <dgm:pt modelId="{ED574DAD-5D45-4556-A293-F6C9C88A1EE9}" type="pres">
      <dgm:prSet presAssocID="{5B865754-D0AB-44FD-B740-6D2AF6A894F4}" presName="parTx" presStyleLbl="revTx" presStyleIdx="0" presStyleCnt="6">
        <dgm:presLayoutVars>
          <dgm:chMax val="0"/>
          <dgm:chPref val="0"/>
        </dgm:presLayoutVars>
      </dgm:prSet>
      <dgm:spPr/>
    </dgm:pt>
    <dgm:pt modelId="{B6390815-E607-4A94-8D06-980136E43E6F}" type="pres">
      <dgm:prSet presAssocID="{3715716C-DFE7-4D8A-8B5E-A89AC4CD1A0F}" presName="sibTrans" presStyleCnt="0"/>
      <dgm:spPr/>
    </dgm:pt>
    <dgm:pt modelId="{2174D574-0BD6-485B-85EE-69AD2116E8D8}" type="pres">
      <dgm:prSet presAssocID="{63286878-D54B-4A33-BD68-058EC8DFA53E}" presName="compNode" presStyleCnt="0"/>
      <dgm:spPr/>
    </dgm:pt>
    <dgm:pt modelId="{46D3471E-59BB-4DF8-9E72-DA07BA3A4ED7}" type="pres">
      <dgm:prSet presAssocID="{63286878-D54B-4A33-BD68-058EC8DFA53E}" presName="bgRect" presStyleLbl="bgShp" presStyleIdx="1" presStyleCnt="6"/>
      <dgm:spPr/>
    </dgm:pt>
    <dgm:pt modelId="{1F15586F-8D2B-4C6D-919B-CD330567D535}" type="pres">
      <dgm:prSet presAssocID="{63286878-D54B-4A33-BD68-058EC8DFA53E}" presName="iconRect" presStyleLbl="node1" presStyleIdx="1" presStyleCnt="6"/>
      <dgm:spPr/>
    </dgm:pt>
    <dgm:pt modelId="{75F8C489-478F-417A-83F9-1EC9624B7D90}" type="pres">
      <dgm:prSet presAssocID="{63286878-D54B-4A33-BD68-058EC8DFA53E}" presName="spaceRect" presStyleCnt="0"/>
      <dgm:spPr/>
    </dgm:pt>
    <dgm:pt modelId="{3FC3E4B2-2FA6-4376-90D7-5D16CCF6912E}" type="pres">
      <dgm:prSet presAssocID="{63286878-D54B-4A33-BD68-058EC8DFA53E}" presName="parTx" presStyleLbl="revTx" presStyleIdx="1" presStyleCnt="6">
        <dgm:presLayoutVars>
          <dgm:chMax val="0"/>
          <dgm:chPref val="0"/>
        </dgm:presLayoutVars>
      </dgm:prSet>
      <dgm:spPr/>
    </dgm:pt>
    <dgm:pt modelId="{5DB22AB7-4321-4556-BBD2-E9D2B024A595}" type="pres">
      <dgm:prSet presAssocID="{38139AE3-C63D-4762-A9F4-FA90C1A1E5C3}" presName="sibTrans" presStyleCnt="0"/>
      <dgm:spPr/>
    </dgm:pt>
    <dgm:pt modelId="{FEC73553-8FA5-4CA8-80FB-9B71A90C0AE7}" type="pres">
      <dgm:prSet presAssocID="{5AD68289-41F3-4059-854E-DB829E4314D8}" presName="compNode" presStyleCnt="0"/>
      <dgm:spPr/>
    </dgm:pt>
    <dgm:pt modelId="{60936616-E6F5-475C-9B35-4F32533BEEB4}" type="pres">
      <dgm:prSet presAssocID="{5AD68289-41F3-4059-854E-DB829E4314D8}" presName="bgRect" presStyleLbl="bgShp" presStyleIdx="2" presStyleCnt="6"/>
      <dgm:spPr/>
    </dgm:pt>
    <dgm:pt modelId="{0D5B436C-A016-44DC-A209-28B11FCEB9A6}" type="pres">
      <dgm:prSet presAssocID="{5AD68289-41F3-4059-854E-DB829E4314D8}" presName="iconRect" presStyleLbl="node1" presStyleIdx="2" presStyleCnt="6"/>
      <dgm:spPr/>
    </dgm:pt>
    <dgm:pt modelId="{12F6FD30-6B35-4583-95D1-95A0AA69E91F}" type="pres">
      <dgm:prSet presAssocID="{5AD68289-41F3-4059-854E-DB829E4314D8}" presName="spaceRect" presStyleCnt="0"/>
      <dgm:spPr/>
    </dgm:pt>
    <dgm:pt modelId="{20573945-F979-467A-8CAE-E40118674481}" type="pres">
      <dgm:prSet presAssocID="{5AD68289-41F3-4059-854E-DB829E4314D8}" presName="parTx" presStyleLbl="revTx" presStyleIdx="2" presStyleCnt="6">
        <dgm:presLayoutVars>
          <dgm:chMax val="0"/>
          <dgm:chPref val="0"/>
        </dgm:presLayoutVars>
      </dgm:prSet>
      <dgm:spPr/>
    </dgm:pt>
    <dgm:pt modelId="{86CEFBCB-6C3E-4591-B42F-60835A8E9082}" type="pres">
      <dgm:prSet presAssocID="{893D5CD5-3FE9-4494-A234-A0E848F26B7E}" presName="sibTrans" presStyleCnt="0"/>
      <dgm:spPr/>
    </dgm:pt>
    <dgm:pt modelId="{99578D80-05E7-4165-A7F7-4678741CE004}" type="pres">
      <dgm:prSet presAssocID="{CB7BBE8B-35A3-4E7E-97FB-5911E39A42A8}" presName="compNode" presStyleCnt="0"/>
      <dgm:spPr/>
    </dgm:pt>
    <dgm:pt modelId="{605CA65F-4428-4DDF-A91E-13D25062BEBB}" type="pres">
      <dgm:prSet presAssocID="{CB7BBE8B-35A3-4E7E-97FB-5911E39A42A8}" presName="bgRect" presStyleLbl="bgShp" presStyleIdx="3" presStyleCnt="6"/>
      <dgm:spPr/>
    </dgm:pt>
    <dgm:pt modelId="{6966B901-8A4F-4A1D-B80B-226DA0112367}" type="pres">
      <dgm:prSet presAssocID="{CB7BBE8B-35A3-4E7E-97FB-5911E39A42A8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56886AAC-440C-4C97-89EE-F776F8203493}" type="pres">
      <dgm:prSet presAssocID="{CB7BBE8B-35A3-4E7E-97FB-5911E39A42A8}" presName="spaceRect" presStyleCnt="0"/>
      <dgm:spPr/>
    </dgm:pt>
    <dgm:pt modelId="{03776620-8338-4CD7-B9E9-9FD13103728B}" type="pres">
      <dgm:prSet presAssocID="{CB7BBE8B-35A3-4E7E-97FB-5911E39A42A8}" presName="parTx" presStyleLbl="revTx" presStyleIdx="3" presStyleCnt="6">
        <dgm:presLayoutVars>
          <dgm:chMax val="0"/>
          <dgm:chPref val="0"/>
        </dgm:presLayoutVars>
      </dgm:prSet>
      <dgm:spPr/>
    </dgm:pt>
    <dgm:pt modelId="{2278986D-AA1F-4427-9060-E3360299A5CE}" type="pres">
      <dgm:prSet presAssocID="{99D410D3-3EED-4D1E-8F99-F77703458387}" presName="sibTrans" presStyleCnt="0"/>
      <dgm:spPr/>
    </dgm:pt>
    <dgm:pt modelId="{FD7270C4-933C-48A7-AA11-20C942EF7072}" type="pres">
      <dgm:prSet presAssocID="{57CEF72C-37FE-4A56-B791-06D3E79DBAA9}" presName="compNode" presStyleCnt="0"/>
      <dgm:spPr/>
    </dgm:pt>
    <dgm:pt modelId="{A16459F7-ACBA-4CA6-B648-36DCE2D02238}" type="pres">
      <dgm:prSet presAssocID="{57CEF72C-37FE-4A56-B791-06D3E79DBAA9}" presName="bgRect" presStyleLbl="bgShp" presStyleIdx="4" presStyleCnt="6"/>
      <dgm:spPr/>
    </dgm:pt>
    <dgm:pt modelId="{57595B60-D9E9-41A2-ADFB-5E86DB0F1DA1}" type="pres">
      <dgm:prSet presAssocID="{57CEF72C-37FE-4A56-B791-06D3E79DBAA9}" presName="iconRect" presStyleLbl="node1" presStyleIdx="4" presStyleCnt="6"/>
      <dgm:spPr/>
    </dgm:pt>
    <dgm:pt modelId="{871D50E7-8BC7-41DA-9FEF-8D5CB2AEB164}" type="pres">
      <dgm:prSet presAssocID="{57CEF72C-37FE-4A56-B791-06D3E79DBAA9}" presName="spaceRect" presStyleCnt="0"/>
      <dgm:spPr/>
    </dgm:pt>
    <dgm:pt modelId="{D3BE7FBC-65DB-49E1-B6D4-AB7FE7E49DE0}" type="pres">
      <dgm:prSet presAssocID="{57CEF72C-37FE-4A56-B791-06D3E79DBAA9}" presName="parTx" presStyleLbl="revTx" presStyleIdx="4" presStyleCnt="6">
        <dgm:presLayoutVars>
          <dgm:chMax val="0"/>
          <dgm:chPref val="0"/>
        </dgm:presLayoutVars>
      </dgm:prSet>
      <dgm:spPr/>
    </dgm:pt>
    <dgm:pt modelId="{E9CA28C7-CE66-46AE-8F80-191EA7BB6457}" type="pres">
      <dgm:prSet presAssocID="{BE97EF1B-4094-494C-8A29-A6CFD8E5C9DF}" presName="sibTrans" presStyleCnt="0"/>
      <dgm:spPr/>
    </dgm:pt>
    <dgm:pt modelId="{1126F9E5-CCA6-463A-8215-4070E8267D11}" type="pres">
      <dgm:prSet presAssocID="{CF72CE46-6586-4B87-84F0-FF483E232006}" presName="compNode" presStyleCnt="0"/>
      <dgm:spPr/>
    </dgm:pt>
    <dgm:pt modelId="{0C1FAFC7-DD74-42E1-A439-B558FC806354}" type="pres">
      <dgm:prSet presAssocID="{CF72CE46-6586-4B87-84F0-FF483E232006}" presName="bgRect" presStyleLbl="bgShp" presStyleIdx="5" presStyleCnt="6"/>
      <dgm:spPr/>
    </dgm:pt>
    <dgm:pt modelId="{93288F03-78CD-4D8B-B5A6-A850B8E1F8E3}" type="pres">
      <dgm:prSet presAssocID="{CF72CE46-6586-4B87-84F0-FF483E232006}" presName="iconRect" presStyleLbl="node1" presStyleIdx="5" presStyleCnt="6"/>
      <dgm:spPr/>
    </dgm:pt>
    <dgm:pt modelId="{8397738A-C41D-4350-B419-0116CD001036}" type="pres">
      <dgm:prSet presAssocID="{CF72CE46-6586-4B87-84F0-FF483E232006}" presName="spaceRect" presStyleCnt="0"/>
      <dgm:spPr/>
    </dgm:pt>
    <dgm:pt modelId="{E16A9BF9-168D-41A4-9314-054BD59FBC88}" type="pres">
      <dgm:prSet presAssocID="{CF72CE46-6586-4B87-84F0-FF483E232006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1720DD13-7F94-4F57-ABCE-05BE9A62F03C}" srcId="{D803431F-9E85-4C54-840B-C0479B8BB9F3}" destId="{5AD68289-41F3-4059-854E-DB829E4314D8}" srcOrd="2" destOrd="0" parTransId="{FE2948DA-733F-4A39-B57F-E1AD3CE4B38E}" sibTransId="{893D5CD5-3FE9-4494-A234-A0E848F26B7E}"/>
    <dgm:cxn modelId="{A217C147-D7E5-4C8F-9214-27AB7530C4CF}" type="presOf" srcId="{CF72CE46-6586-4B87-84F0-FF483E232006}" destId="{E16A9BF9-168D-41A4-9314-054BD59FBC88}" srcOrd="0" destOrd="0" presId="urn:microsoft.com/office/officeart/2018/2/layout/IconVerticalSolidList"/>
    <dgm:cxn modelId="{A808A771-AAFC-44B5-9D27-AFF1B6DD55B6}" type="presOf" srcId="{63286878-D54B-4A33-BD68-058EC8DFA53E}" destId="{3FC3E4B2-2FA6-4376-90D7-5D16CCF6912E}" srcOrd="0" destOrd="0" presId="urn:microsoft.com/office/officeart/2018/2/layout/IconVerticalSolidList"/>
    <dgm:cxn modelId="{2E386B75-B86A-4110-857C-2672438B08E6}" type="presOf" srcId="{5AD68289-41F3-4059-854E-DB829E4314D8}" destId="{20573945-F979-467A-8CAE-E40118674481}" srcOrd="0" destOrd="0" presId="urn:microsoft.com/office/officeart/2018/2/layout/IconVerticalSolidList"/>
    <dgm:cxn modelId="{AABE7778-2A37-43F9-AF3B-ABF62E961F94}" type="presOf" srcId="{CB7BBE8B-35A3-4E7E-97FB-5911E39A42A8}" destId="{03776620-8338-4CD7-B9E9-9FD13103728B}" srcOrd="0" destOrd="0" presId="urn:microsoft.com/office/officeart/2018/2/layout/IconVerticalSolidList"/>
    <dgm:cxn modelId="{65714895-43F8-4456-B589-4719A4690800}" type="presOf" srcId="{D803431F-9E85-4C54-840B-C0479B8BB9F3}" destId="{3738560B-9584-47E4-BE31-04CC5B25889A}" srcOrd="0" destOrd="0" presId="urn:microsoft.com/office/officeart/2018/2/layout/IconVerticalSolidList"/>
    <dgm:cxn modelId="{EBACA597-30CD-469B-B7CA-F81E9F19EB03}" srcId="{D803431F-9E85-4C54-840B-C0479B8BB9F3}" destId="{5B865754-D0AB-44FD-B740-6D2AF6A894F4}" srcOrd="0" destOrd="0" parTransId="{27C73815-499F-4108-99B5-17E5B88C3CFA}" sibTransId="{3715716C-DFE7-4D8A-8B5E-A89AC4CD1A0F}"/>
    <dgm:cxn modelId="{478E9DD0-6A64-4F03-B509-FC8CC6328D8B}" type="presOf" srcId="{57CEF72C-37FE-4A56-B791-06D3E79DBAA9}" destId="{D3BE7FBC-65DB-49E1-B6D4-AB7FE7E49DE0}" srcOrd="0" destOrd="0" presId="urn:microsoft.com/office/officeart/2018/2/layout/IconVerticalSolidList"/>
    <dgm:cxn modelId="{CF046CDA-6152-4E56-87DB-299E24D5E9EF}" srcId="{D803431F-9E85-4C54-840B-C0479B8BB9F3}" destId="{CF72CE46-6586-4B87-84F0-FF483E232006}" srcOrd="5" destOrd="0" parTransId="{0950A4CE-BE21-43B6-9EE2-EAE877245CC2}" sibTransId="{17311F65-5944-43DF-BF4A-D9097E8BCED6}"/>
    <dgm:cxn modelId="{B77112DF-3AD6-4B90-A12A-114004936244}" srcId="{D803431F-9E85-4C54-840B-C0479B8BB9F3}" destId="{63286878-D54B-4A33-BD68-058EC8DFA53E}" srcOrd="1" destOrd="0" parTransId="{EAD6EDBB-941F-4E44-B197-2313F1803D84}" sibTransId="{38139AE3-C63D-4762-A9F4-FA90C1A1E5C3}"/>
    <dgm:cxn modelId="{D81C1FE4-EE0A-45C0-B52E-68B4187F4821}" srcId="{D803431F-9E85-4C54-840B-C0479B8BB9F3}" destId="{57CEF72C-37FE-4A56-B791-06D3E79DBAA9}" srcOrd="4" destOrd="0" parTransId="{D21AB05D-D199-44C6-82F0-AB42641E365B}" sibTransId="{BE97EF1B-4094-494C-8A29-A6CFD8E5C9DF}"/>
    <dgm:cxn modelId="{7BBD8EEA-38BF-49C8-9595-22E86302FC46}" type="presOf" srcId="{5B865754-D0AB-44FD-B740-6D2AF6A894F4}" destId="{ED574DAD-5D45-4556-A293-F6C9C88A1EE9}" srcOrd="0" destOrd="0" presId="urn:microsoft.com/office/officeart/2018/2/layout/IconVerticalSolidList"/>
    <dgm:cxn modelId="{5E0A6AFE-646E-44E7-8339-51C71F4AB654}" srcId="{D803431F-9E85-4C54-840B-C0479B8BB9F3}" destId="{CB7BBE8B-35A3-4E7E-97FB-5911E39A42A8}" srcOrd="3" destOrd="0" parTransId="{2C67FA6A-29A5-4CC9-9665-2E0AAD0021C2}" sibTransId="{99D410D3-3EED-4D1E-8F99-F77703458387}"/>
    <dgm:cxn modelId="{9281A5E8-16CE-4729-BE9C-C21414B59D2E}" type="presParOf" srcId="{3738560B-9584-47E4-BE31-04CC5B25889A}" destId="{E470B4A9-94B8-4735-8900-1DE748A2E5E4}" srcOrd="0" destOrd="0" presId="urn:microsoft.com/office/officeart/2018/2/layout/IconVerticalSolidList"/>
    <dgm:cxn modelId="{800EFE15-7412-4CA2-B86B-42F9A0018519}" type="presParOf" srcId="{E470B4A9-94B8-4735-8900-1DE748A2E5E4}" destId="{2D8E0E13-430D-4465-8B47-77618EF3E0E8}" srcOrd="0" destOrd="0" presId="urn:microsoft.com/office/officeart/2018/2/layout/IconVerticalSolidList"/>
    <dgm:cxn modelId="{3A28CC4F-B75E-45F6-A917-62A43DA18EAC}" type="presParOf" srcId="{E470B4A9-94B8-4735-8900-1DE748A2E5E4}" destId="{ABA1660D-1137-45A9-B3EF-181F74417BC9}" srcOrd="1" destOrd="0" presId="urn:microsoft.com/office/officeart/2018/2/layout/IconVerticalSolidList"/>
    <dgm:cxn modelId="{4C621E11-DAE5-40DF-AC52-A29C8150061A}" type="presParOf" srcId="{E470B4A9-94B8-4735-8900-1DE748A2E5E4}" destId="{219B33A2-994D-4DB8-9DB8-EBEF3E38BA68}" srcOrd="2" destOrd="0" presId="urn:microsoft.com/office/officeart/2018/2/layout/IconVerticalSolidList"/>
    <dgm:cxn modelId="{6CED3701-E230-4915-A7C9-B5A35D0D8A1E}" type="presParOf" srcId="{E470B4A9-94B8-4735-8900-1DE748A2E5E4}" destId="{ED574DAD-5D45-4556-A293-F6C9C88A1EE9}" srcOrd="3" destOrd="0" presId="urn:microsoft.com/office/officeart/2018/2/layout/IconVerticalSolidList"/>
    <dgm:cxn modelId="{F2788303-C6E2-4030-A968-B1F000E8C8C6}" type="presParOf" srcId="{3738560B-9584-47E4-BE31-04CC5B25889A}" destId="{B6390815-E607-4A94-8D06-980136E43E6F}" srcOrd="1" destOrd="0" presId="urn:microsoft.com/office/officeart/2018/2/layout/IconVerticalSolidList"/>
    <dgm:cxn modelId="{E026B2F3-C4D6-4171-B3D3-7871CC76B0B0}" type="presParOf" srcId="{3738560B-9584-47E4-BE31-04CC5B25889A}" destId="{2174D574-0BD6-485B-85EE-69AD2116E8D8}" srcOrd="2" destOrd="0" presId="urn:microsoft.com/office/officeart/2018/2/layout/IconVerticalSolidList"/>
    <dgm:cxn modelId="{E5F7BF55-22AC-4CA2-8B54-E855E097B37D}" type="presParOf" srcId="{2174D574-0BD6-485B-85EE-69AD2116E8D8}" destId="{46D3471E-59BB-4DF8-9E72-DA07BA3A4ED7}" srcOrd="0" destOrd="0" presId="urn:microsoft.com/office/officeart/2018/2/layout/IconVerticalSolidList"/>
    <dgm:cxn modelId="{0B54DB7C-1F09-4456-A876-77EB86F09A28}" type="presParOf" srcId="{2174D574-0BD6-485B-85EE-69AD2116E8D8}" destId="{1F15586F-8D2B-4C6D-919B-CD330567D535}" srcOrd="1" destOrd="0" presId="urn:microsoft.com/office/officeart/2018/2/layout/IconVerticalSolidList"/>
    <dgm:cxn modelId="{F854FD6E-0E5A-4357-BE22-4A14FE01E644}" type="presParOf" srcId="{2174D574-0BD6-485B-85EE-69AD2116E8D8}" destId="{75F8C489-478F-417A-83F9-1EC9624B7D90}" srcOrd="2" destOrd="0" presId="urn:microsoft.com/office/officeart/2018/2/layout/IconVerticalSolidList"/>
    <dgm:cxn modelId="{F2A8F533-ED1B-4297-AAB8-DE30FE5B984F}" type="presParOf" srcId="{2174D574-0BD6-485B-85EE-69AD2116E8D8}" destId="{3FC3E4B2-2FA6-4376-90D7-5D16CCF6912E}" srcOrd="3" destOrd="0" presId="urn:microsoft.com/office/officeart/2018/2/layout/IconVerticalSolidList"/>
    <dgm:cxn modelId="{6E4AAD3F-35DD-42EF-A5A5-7E15424DC662}" type="presParOf" srcId="{3738560B-9584-47E4-BE31-04CC5B25889A}" destId="{5DB22AB7-4321-4556-BBD2-E9D2B024A595}" srcOrd="3" destOrd="0" presId="urn:microsoft.com/office/officeart/2018/2/layout/IconVerticalSolidList"/>
    <dgm:cxn modelId="{69EF0EB4-D255-438A-AE37-6092296700D2}" type="presParOf" srcId="{3738560B-9584-47E4-BE31-04CC5B25889A}" destId="{FEC73553-8FA5-4CA8-80FB-9B71A90C0AE7}" srcOrd="4" destOrd="0" presId="urn:microsoft.com/office/officeart/2018/2/layout/IconVerticalSolidList"/>
    <dgm:cxn modelId="{D5C92E0C-C1C9-4666-9614-102AEB06B002}" type="presParOf" srcId="{FEC73553-8FA5-4CA8-80FB-9B71A90C0AE7}" destId="{60936616-E6F5-475C-9B35-4F32533BEEB4}" srcOrd="0" destOrd="0" presId="urn:microsoft.com/office/officeart/2018/2/layout/IconVerticalSolidList"/>
    <dgm:cxn modelId="{79EF8FCB-1D40-4D69-8D24-919BC9823C41}" type="presParOf" srcId="{FEC73553-8FA5-4CA8-80FB-9B71A90C0AE7}" destId="{0D5B436C-A016-44DC-A209-28B11FCEB9A6}" srcOrd="1" destOrd="0" presId="urn:microsoft.com/office/officeart/2018/2/layout/IconVerticalSolidList"/>
    <dgm:cxn modelId="{CE7D5826-4146-4065-B8B3-1E7A3DA14DDF}" type="presParOf" srcId="{FEC73553-8FA5-4CA8-80FB-9B71A90C0AE7}" destId="{12F6FD30-6B35-4583-95D1-95A0AA69E91F}" srcOrd="2" destOrd="0" presId="urn:microsoft.com/office/officeart/2018/2/layout/IconVerticalSolidList"/>
    <dgm:cxn modelId="{2B1FC985-2A98-4BD4-9192-F2269EEFCC4A}" type="presParOf" srcId="{FEC73553-8FA5-4CA8-80FB-9B71A90C0AE7}" destId="{20573945-F979-467A-8CAE-E40118674481}" srcOrd="3" destOrd="0" presId="urn:microsoft.com/office/officeart/2018/2/layout/IconVerticalSolidList"/>
    <dgm:cxn modelId="{755DEF93-8F37-426B-8088-161531EF4290}" type="presParOf" srcId="{3738560B-9584-47E4-BE31-04CC5B25889A}" destId="{86CEFBCB-6C3E-4591-B42F-60835A8E9082}" srcOrd="5" destOrd="0" presId="urn:microsoft.com/office/officeart/2018/2/layout/IconVerticalSolidList"/>
    <dgm:cxn modelId="{87175CFE-EF11-448E-A3C2-FB6C9AD8A37D}" type="presParOf" srcId="{3738560B-9584-47E4-BE31-04CC5B25889A}" destId="{99578D80-05E7-4165-A7F7-4678741CE004}" srcOrd="6" destOrd="0" presId="urn:microsoft.com/office/officeart/2018/2/layout/IconVerticalSolidList"/>
    <dgm:cxn modelId="{C9D03D14-384F-4C9B-8426-BB24C351FBFB}" type="presParOf" srcId="{99578D80-05E7-4165-A7F7-4678741CE004}" destId="{605CA65F-4428-4DDF-A91E-13D25062BEBB}" srcOrd="0" destOrd="0" presId="urn:microsoft.com/office/officeart/2018/2/layout/IconVerticalSolidList"/>
    <dgm:cxn modelId="{EE21B932-B6A4-4BFE-8655-3193AACEAAC3}" type="presParOf" srcId="{99578D80-05E7-4165-A7F7-4678741CE004}" destId="{6966B901-8A4F-4A1D-B80B-226DA0112367}" srcOrd="1" destOrd="0" presId="urn:microsoft.com/office/officeart/2018/2/layout/IconVerticalSolidList"/>
    <dgm:cxn modelId="{224330CF-8D4D-494B-8C9B-FB3A4F844523}" type="presParOf" srcId="{99578D80-05E7-4165-A7F7-4678741CE004}" destId="{56886AAC-440C-4C97-89EE-F776F8203493}" srcOrd="2" destOrd="0" presId="urn:microsoft.com/office/officeart/2018/2/layout/IconVerticalSolidList"/>
    <dgm:cxn modelId="{225606CE-DB13-41B6-8402-A8C2CE898DED}" type="presParOf" srcId="{99578D80-05E7-4165-A7F7-4678741CE004}" destId="{03776620-8338-4CD7-B9E9-9FD13103728B}" srcOrd="3" destOrd="0" presId="urn:microsoft.com/office/officeart/2018/2/layout/IconVerticalSolidList"/>
    <dgm:cxn modelId="{D9CD45F0-BC2B-4085-819C-65C3BB7572EB}" type="presParOf" srcId="{3738560B-9584-47E4-BE31-04CC5B25889A}" destId="{2278986D-AA1F-4427-9060-E3360299A5CE}" srcOrd="7" destOrd="0" presId="urn:microsoft.com/office/officeart/2018/2/layout/IconVerticalSolidList"/>
    <dgm:cxn modelId="{848A66E7-44AB-4676-BCAC-D536C12E4C1D}" type="presParOf" srcId="{3738560B-9584-47E4-BE31-04CC5B25889A}" destId="{FD7270C4-933C-48A7-AA11-20C942EF7072}" srcOrd="8" destOrd="0" presId="urn:microsoft.com/office/officeart/2018/2/layout/IconVerticalSolidList"/>
    <dgm:cxn modelId="{EF405662-5A5C-4FEA-9D24-129DFF437E78}" type="presParOf" srcId="{FD7270C4-933C-48A7-AA11-20C942EF7072}" destId="{A16459F7-ACBA-4CA6-B648-36DCE2D02238}" srcOrd="0" destOrd="0" presId="urn:microsoft.com/office/officeart/2018/2/layout/IconVerticalSolidList"/>
    <dgm:cxn modelId="{0EBD41B7-D528-4B01-9F6E-7872C5E13AB0}" type="presParOf" srcId="{FD7270C4-933C-48A7-AA11-20C942EF7072}" destId="{57595B60-D9E9-41A2-ADFB-5E86DB0F1DA1}" srcOrd="1" destOrd="0" presId="urn:microsoft.com/office/officeart/2018/2/layout/IconVerticalSolidList"/>
    <dgm:cxn modelId="{2DF88704-C505-4539-889A-2A4C81DEAEF4}" type="presParOf" srcId="{FD7270C4-933C-48A7-AA11-20C942EF7072}" destId="{871D50E7-8BC7-41DA-9FEF-8D5CB2AEB164}" srcOrd="2" destOrd="0" presId="urn:microsoft.com/office/officeart/2018/2/layout/IconVerticalSolidList"/>
    <dgm:cxn modelId="{72B1DD65-DB8D-4EC6-9D56-38A1C5B658E4}" type="presParOf" srcId="{FD7270C4-933C-48A7-AA11-20C942EF7072}" destId="{D3BE7FBC-65DB-49E1-B6D4-AB7FE7E49DE0}" srcOrd="3" destOrd="0" presId="urn:microsoft.com/office/officeart/2018/2/layout/IconVerticalSolidList"/>
    <dgm:cxn modelId="{02B3D34B-6E15-48D0-87C4-8A7A74AA722D}" type="presParOf" srcId="{3738560B-9584-47E4-BE31-04CC5B25889A}" destId="{E9CA28C7-CE66-46AE-8F80-191EA7BB6457}" srcOrd="9" destOrd="0" presId="urn:microsoft.com/office/officeart/2018/2/layout/IconVerticalSolidList"/>
    <dgm:cxn modelId="{6FA0AAE9-8822-4AF1-A455-5DD796E483E5}" type="presParOf" srcId="{3738560B-9584-47E4-BE31-04CC5B25889A}" destId="{1126F9E5-CCA6-463A-8215-4070E8267D11}" srcOrd="10" destOrd="0" presId="urn:microsoft.com/office/officeart/2018/2/layout/IconVerticalSolidList"/>
    <dgm:cxn modelId="{AD31F8E6-695D-4360-8574-1DEC0D7B0A94}" type="presParOf" srcId="{1126F9E5-CCA6-463A-8215-4070E8267D11}" destId="{0C1FAFC7-DD74-42E1-A439-B558FC806354}" srcOrd="0" destOrd="0" presId="urn:microsoft.com/office/officeart/2018/2/layout/IconVerticalSolidList"/>
    <dgm:cxn modelId="{9EB1B08A-B0D4-4428-B652-7F29B663F331}" type="presParOf" srcId="{1126F9E5-CCA6-463A-8215-4070E8267D11}" destId="{93288F03-78CD-4D8B-B5A6-A850B8E1F8E3}" srcOrd="1" destOrd="0" presId="urn:microsoft.com/office/officeart/2018/2/layout/IconVerticalSolidList"/>
    <dgm:cxn modelId="{6B9B3944-A860-4B67-AC8E-019263CBB8DB}" type="presParOf" srcId="{1126F9E5-CCA6-463A-8215-4070E8267D11}" destId="{8397738A-C41D-4350-B419-0116CD001036}" srcOrd="2" destOrd="0" presId="urn:microsoft.com/office/officeart/2018/2/layout/IconVerticalSolidList"/>
    <dgm:cxn modelId="{01DA6C3C-59D7-41AF-8FBE-CEE7A0D63D20}" type="presParOf" srcId="{1126F9E5-CCA6-463A-8215-4070E8267D11}" destId="{E16A9BF9-168D-41A4-9314-054BD59FBC8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F3B80E0-A344-4507-B064-3F5A25D3962C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7BFB9A05-FA8F-4CA6-81BF-0D0174708B8F}">
      <dgm:prSet/>
      <dgm:spPr/>
      <dgm:t>
        <a:bodyPr/>
        <a:lstStyle/>
        <a:p>
          <a:r>
            <a:rPr lang="es-ES" dirty="0" err="1"/>
            <a:t>Envio</a:t>
          </a:r>
          <a:r>
            <a:rPr lang="es-ES" dirty="0"/>
            <a:t> masivo de paquetes de diversos puertos a un mismo puerto de destino.</a:t>
          </a:r>
          <a:endParaRPr lang="en-US" dirty="0"/>
        </a:p>
      </dgm:t>
    </dgm:pt>
    <dgm:pt modelId="{753623DE-8788-4381-83B9-BC9DEB9946D1}" type="parTrans" cxnId="{C487A409-D9C8-4263-84E4-FB0E62CF88DD}">
      <dgm:prSet/>
      <dgm:spPr/>
      <dgm:t>
        <a:bodyPr/>
        <a:lstStyle/>
        <a:p>
          <a:endParaRPr lang="en-US"/>
        </a:p>
      </dgm:t>
    </dgm:pt>
    <dgm:pt modelId="{88A1B218-6758-4485-B036-B66573F114C2}" type="sibTrans" cxnId="{C487A409-D9C8-4263-84E4-FB0E62CF88DD}">
      <dgm:prSet/>
      <dgm:spPr/>
      <dgm:t>
        <a:bodyPr/>
        <a:lstStyle/>
        <a:p>
          <a:endParaRPr lang="en-US"/>
        </a:p>
      </dgm:t>
    </dgm:pt>
    <dgm:pt modelId="{758C91E4-971A-429C-AEBF-B73A6543CFDC}">
      <dgm:prSet/>
      <dgm:spPr/>
      <dgm:t>
        <a:bodyPr/>
        <a:lstStyle/>
        <a:p>
          <a:r>
            <a:rPr lang="es-ES" dirty="0"/>
            <a:t>Por consecuencia, una elevada tasa de bytes en una </a:t>
          </a:r>
          <a:r>
            <a:rPr lang="es-ES" dirty="0" err="1"/>
            <a:t>direccion</a:t>
          </a:r>
          <a:r>
            <a:rPr lang="es-ES" dirty="0"/>
            <a:t>. </a:t>
          </a:r>
          <a:endParaRPr lang="en-US" dirty="0"/>
        </a:p>
      </dgm:t>
    </dgm:pt>
    <dgm:pt modelId="{99C55D32-BCF9-4AA0-B32F-F9F62578B576}" type="parTrans" cxnId="{35FA0A4A-4E4E-41B8-9356-1BECF48AACF6}">
      <dgm:prSet/>
      <dgm:spPr/>
      <dgm:t>
        <a:bodyPr/>
        <a:lstStyle/>
        <a:p>
          <a:endParaRPr lang="en-US"/>
        </a:p>
      </dgm:t>
    </dgm:pt>
    <dgm:pt modelId="{6B4E17EC-A119-4787-AB4A-8D9FA1B5EDAE}" type="sibTrans" cxnId="{35FA0A4A-4E4E-41B8-9356-1BECF48AACF6}">
      <dgm:prSet/>
      <dgm:spPr/>
      <dgm:t>
        <a:bodyPr/>
        <a:lstStyle/>
        <a:p>
          <a:endParaRPr lang="en-US"/>
        </a:p>
      </dgm:t>
    </dgm:pt>
    <dgm:pt modelId="{C07E5BEC-9782-463D-89B5-9BF370311B57}">
      <dgm:prSet/>
      <dgm:spPr/>
      <dgm:t>
        <a:bodyPr/>
        <a:lstStyle/>
        <a:p>
          <a:r>
            <a:rPr lang="es-ES" dirty="0"/>
            <a:t>Muchos intentos de conexiones que empiezan sin que termine el anterior.</a:t>
          </a:r>
          <a:endParaRPr lang="en-US" dirty="0"/>
        </a:p>
      </dgm:t>
    </dgm:pt>
    <dgm:pt modelId="{B87FC580-7151-439B-9F8B-5841AA945AF1}" type="parTrans" cxnId="{C250AB32-F9E4-48D8-9873-F769FB08A809}">
      <dgm:prSet/>
      <dgm:spPr/>
      <dgm:t>
        <a:bodyPr/>
        <a:lstStyle/>
        <a:p>
          <a:endParaRPr lang="en-US"/>
        </a:p>
      </dgm:t>
    </dgm:pt>
    <dgm:pt modelId="{C22CF47A-6D14-400B-9396-08B43F2E1837}" type="sibTrans" cxnId="{C250AB32-F9E4-48D8-9873-F769FB08A809}">
      <dgm:prSet/>
      <dgm:spPr/>
      <dgm:t>
        <a:bodyPr/>
        <a:lstStyle/>
        <a:p>
          <a:endParaRPr lang="en-US"/>
        </a:p>
      </dgm:t>
    </dgm:pt>
    <dgm:pt modelId="{5333CA5D-0D2B-424A-AB92-4BCA92DAD257}">
      <dgm:prSet/>
      <dgm:spPr/>
      <dgm:t>
        <a:bodyPr/>
        <a:lstStyle/>
        <a:p>
          <a:r>
            <a:rPr lang="es-ES" dirty="0"/>
            <a:t>Poca respuesta a las conexiones entrantes.</a:t>
          </a:r>
          <a:endParaRPr lang="en-US" dirty="0"/>
        </a:p>
      </dgm:t>
    </dgm:pt>
    <dgm:pt modelId="{2740D697-B6A3-4E0D-8A52-DED87B3AF55F}" type="parTrans" cxnId="{8742380A-3CB1-448A-8293-133A08DB85F0}">
      <dgm:prSet/>
      <dgm:spPr/>
      <dgm:t>
        <a:bodyPr/>
        <a:lstStyle/>
        <a:p>
          <a:endParaRPr lang="en-US"/>
        </a:p>
      </dgm:t>
    </dgm:pt>
    <dgm:pt modelId="{9F205E61-5BD4-4147-A930-FA8AC59FCEAF}" type="sibTrans" cxnId="{8742380A-3CB1-448A-8293-133A08DB85F0}">
      <dgm:prSet/>
      <dgm:spPr/>
      <dgm:t>
        <a:bodyPr/>
        <a:lstStyle/>
        <a:p>
          <a:endParaRPr lang="en-US"/>
        </a:p>
      </dgm:t>
    </dgm:pt>
    <dgm:pt modelId="{3132A15A-F5A4-48E2-826E-5F6AFDEDB763}">
      <dgm:prSet/>
      <dgm:spPr/>
      <dgm:t>
        <a:bodyPr/>
        <a:lstStyle/>
        <a:p>
          <a:pPr rtl="0"/>
          <a:r>
            <a:rPr lang="es-ES" dirty="0"/>
            <a:t>Diversas </a:t>
          </a:r>
          <a:r>
            <a:rPr lang="es-ES" dirty="0" err="1"/>
            <a:t>IP's</a:t>
          </a:r>
          <a:r>
            <a:rPr lang="es-ES" dirty="0"/>
            <a:t> origen</a:t>
          </a:r>
          <a:r>
            <a:rPr lang="es-ES" dirty="0">
              <a:latin typeface="Aptos Display" panose="02110004020202020204"/>
            </a:rPr>
            <a:t>.</a:t>
          </a:r>
          <a:endParaRPr lang="en-US" dirty="0">
            <a:latin typeface="Aptos Display" panose="02110004020202020204"/>
          </a:endParaRPr>
        </a:p>
      </dgm:t>
    </dgm:pt>
    <dgm:pt modelId="{FFFAD1BC-E3E9-478F-BA03-75BB1C54ECF7}" type="parTrans" cxnId="{4CD86A51-D9EB-4AA5-BE44-205D02E01CC7}">
      <dgm:prSet/>
      <dgm:spPr/>
      <dgm:t>
        <a:bodyPr/>
        <a:lstStyle/>
        <a:p>
          <a:endParaRPr lang="en-US"/>
        </a:p>
      </dgm:t>
    </dgm:pt>
    <dgm:pt modelId="{5DDE7185-64AF-4364-B933-42F3B1565A0D}" type="sibTrans" cxnId="{4CD86A51-D9EB-4AA5-BE44-205D02E01CC7}">
      <dgm:prSet/>
      <dgm:spPr/>
      <dgm:t>
        <a:bodyPr/>
        <a:lstStyle/>
        <a:p>
          <a:endParaRPr lang="en-US"/>
        </a:p>
      </dgm:t>
    </dgm:pt>
    <dgm:pt modelId="{424B566F-39FD-414E-B45E-BBA347CE65CD}">
      <dgm:prSet/>
      <dgm:spPr/>
      <dgm:t>
        <a:bodyPr/>
        <a:lstStyle/>
        <a:p>
          <a:r>
            <a:rPr lang="es-ES" dirty="0"/>
            <a:t>Variables principales :</a:t>
          </a:r>
          <a:endParaRPr lang="en-US" dirty="0"/>
        </a:p>
      </dgm:t>
    </dgm:pt>
    <dgm:pt modelId="{4A7B82D8-23FB-4850-BFB2-74E11948B1A2}" type="parTrans" cxnId="{843F2519-B811-4E90-B9BA-C56548F444D9}">
      <dgm:prSet/>
      <dgm:spPr/>
      <dgm:t>
        <a:bodyPr/>
        <a:lstStyle/>
        <a:p>
          <a:endParaRPr lang="en-US"/>
        </a:p>
      </dgm:t>
    </dgm:pt>
    <dgm:pt modelId="{F1CEE75D-94DB-4977-BC92-789C59671BDD}" type="sibTrans" cxnId="{843F2519-B811-4E90-B9BA-C56548F444D9}">
      <dgm:prSet/>
      <dgm:spPr/>
      <dgm:t>
        <a:bodyPr/>
        <a:lstStyle/>
        <a:p>
          <a:endParaRPr lang="en-US"/>
        </a:p>
      </dgm:t>
    </dgm:pt>
    <dgm:pt modelId="{A998BDE3-DF5F-45CB-A46D-45C7ED4F3D9E}">
      <dgm:prSet/>
      <dgm:spPr/>
      <dgm:t>
        <a:bodyPr/>
        <a:lstStyle/>
        <a:p>
          <a:r>
            <a:rPr lang="es-ES" dirty="0" err="1"/>
            <a:t>destination_port</a:t>
          </a:r>
          <a:r>
            <a:rPr lang="es-ES" dirty="0"/>
            <a:t>, </a:t>
          </a:r>
          <a:r>
            <a:rPr lang="es-ES" dirty="0" err="1"/>
            <a:t>source</a:t>
          </a:r>
          <a:r>
            <a:rPr lang="es-ES" dirty="0"/>
            <a:t> / </a:t>
          </a:r>
          <a:r>
            <a:rPr lang="es-ES" dirty="0" err="1"/>
            <a:t>destination_address</a:t>
          </a:r>
          <a:endParaRPr lang="en-US" dirty="0" err="1"/>
        </a:p>
      </dgm:t>
    </dgm:pt>
    <dgm:pt modelId="{23E07CF9-4103-4FD7-90B9-D6D1BD2225B8}" type="parTrans" cxnId="{1B0047C7-E8B8-4A6A-AF79-62C635CCEB3E}">
      <dgm:prSet/>
      <dgm:spPr/>
      <dgm:t>
        <a:bodyPr/>
        <a:lstStyle/>
        <a:p>
          <a:endParaRPr lang="en-US"/>
        </a:p>
      </dgm:t>
    </dgm:pt>
    <dgm:pt modelId="{B634D00C-BCFA-4AD1-9C26-36D23783B987}" type="sibTrans" cxnId="{1B0047C7-E8B8-4A6A-AF79-62C635CCEB3E}">
      <dgm:prSet/>
      <dgm:spPr/>
      <dgm:t>
        <a:bodyPr/>
        <a:lstStyle/>
        <a:p>
          <a:endParaRPr lang="en-US"/>
        </a:p>
      </dgm:t>
    </dgm:pt>
    <dgm:pt modelId="{0E247975-D83E-4A7B-8FF6-12218C569927}">
      <dgm:prSet/>
      <dgm:spPr/>
      <dgm:t>
        <a:bodyPr/>
        <a:lstStyle/>
        <a:p>
          <a:r>
            <a:rPr lang="es-ES" dirty="0" err="1"/>
            <a:t>total_packets_from_sourceip</a:t>
          </a:r>
          <a:r>
            <a:rPr lang="es-ES" dirty="0"/>
            <a:t> / </a:t>
          </a:r>
          <a:r>
            <a:rPr lang="es-ES" dirty="0" err="1"/>
            <a:t>destip</a:t>
          </a:r>
          <a:endParaRPr lang="en-US" dirty="0" err="1"/>
        </a:p>
      </dgm:t>
    </dgm:pt>
    <dgm:pt modelId="{7C88D17F-EC75-454D-BBA1-964D2C66F21C}" type="parTrans" cxnId="{CCF9BD6D-7B59-4C0D-B127-40129C66C4D6}">
      <dgm:prSet/>
      <dgm:spPr/>
      <dgm:t>
        <a:bodyPr/>
        <a:lstStyle/>
        <a:p>
          <a:endParaRPr lang="en-US"/>
        </a:p>
      </dgm:t>
    </dgm:pt>
    <dgm:pt modelId="{A5A1704A-E172-41A3-98A4-3E7BC753F61C}" type="sibTrans" cxnId="{CCF9BD6D-7B59-4C0D-B127-40129C66C4D6}">
      <dgm:prSet/>
      <dgm:spPr/>
      <dgm:t>
        <a:bodyPr/>
        <a:lstStyle/>
        <a:p>
          <a:endParaRPr lang="en-US"/>
        </a:p>
      </dgm:t>
    </dgm:pt>
    <dgm:pt modelId="{7B260EBA-52C5-446A-9A06-B4677F393431}">
      <dgm:prSet/>
      <dgm:spPr/>
      <dgm:t>
        <a:bodyPr/>
        <a:lstStyle/>
        <a:p>
          <a:r>
            <a:rPr lang="es-ES" dirty="0" err="1"/>
            <a:t>num_incoming.connection_per_destip</a:t>
          </a:r>
          <a:r>
            <a:rPr lang="es-ES" dirty="0"/>
            <a:t> / </a:t>
          </a:r>
          <a:r>
            <a:rPr lang="es-ES" dirty="0" err="1"/>
            <a:t>sourceip</a:t>
          </a:r>
          <a:endParaRPr lang="en-US" dirty="0" err="1"/>
        </a:p>
      </dgm:t>
    </dgm:pt>
    <dgm:pt modelId="{8A883B80-6954-466D-81EB-84C2965FB6AB}" type="parTrans" cxnId="{FCACB3B1-324A-432C-8660-9DBAEC048386}">
      <dgm:prSet/>
      <dgm:spPr/>
      <dgm:t>
        <a:bodyPr/>
        <a:lstStyle/>
        <a:p>
          <a:endParaRPr lang="en-US"/>
        </a:p>
      </dgm:t>
    </dgm:pt>
    <dgm:pt modelId="{7C65E812-7C5D-439A-B505-6DE49F25E290}" type="sibTrans" cxnId="{FCACB3B1-324A-432C-8660-9DBAEC048386}">
      <dgm:prSet/>
      <dgm:spPr/>
      <dgm:t>
        <a:bodyPr/>
        <a:lstStyle/>
        <a:p>
          <a:endParaRPr lang="en-US"/>
        </a:p>
      </dgm:t>
    </dgm:pt>
    <dgm:pt modelId="{D14ED0C1-D30A-4155-9C94-1B375626A4ED}">
      <dgm:prSet phldrT="[Text]" phldr="0"/>
      <dgm:spPr/>
      <dgm:t>
        <a:bodyPr/>
        <a:lstStyle/>
        <a:p>
          <a:r>
            <a:rPr lang="es-ES" dirty="0"/>
            <a:t>Todas atacan a una misma IP de destino.</a:t>
          </a:r>
          <a:endParaRPr lang="en-US" dirty="0"/>
        </a:p>
      </dgm:t>
    </dgm:pt>
    <dgm:pt modelId="{DE3E1C79-A177-4B63-BA01-983A3F9448DD}" type="parTrans" cxnId="{36513589-D48F-4609-9C01-826C67E04E72}">
      <dgm:prSet/>
      <dgm:spPr/>
    </dgm:pt>
    <dgm:pt modelId="{03364B1D-8F69-4542-A166-0BCCDB4F5BFD}" type="sibTrans" cxnId="{36513589-D48F-4609-9C01-826C67E04E72}">
      <dgm:prSet/>
      <dgm:spPr/>
    </dgm:pt>
    <dgm:pt modelId="{D1B13EB7-BFD3-45C1-8F2A-FEBDB2A5760E}" type="pres">
      <dgm:prSet presAssocID="{FF3B80E0-A344-4507-B064-3F5A25D3962C}" presName="Name0" presStyleCnt="0">
        <dgm:presLayoutVars>
          <dgm:dir/>
          <dgm:animLvl val="lvl"/>
          <dgm:resizeHandles val="exact"/>
        </dgm:presLayoutVars>
      </dgm:prSet>
      <dgm:spPr/>
    </dgm:pt>
    <dgm:pt modelId="{A66EEAB4-61C9-44E8-844C-42749C8CF7B5}" type="pres">
      <dgm:prSet presAssocID="{7BFB9A05-FA8F-4CA6-81BF-0D0174708B8F}" presName="linNode" presStyleCnt="0"/>
      <dgm:spPr/>
    </dgm:pt>
    <dgm:pt modelId="{618AECCC-E498-4D5D-A4C2-FDF3ACF44290}" type="pres">
      <dgm:prSet presAssocID="{7BFB9A05-FA8F-4CA6-81BF-0D0174708B8F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691E2AA4-3399-4341-BEB3-83225E093BB5}" type="pres">
      <dgm:prSet presAssocID="{7BFB9A05-FA8F-4CA6-81BF-0D0174708B8F}" presName="descendantText" presStyleLbl="alignAccFollowNode1" presStyleIdx="0" presStyleCnt="4">
        <dgm:presLayoutVars>
          <dgm:bulletEnabled val="1"/>
        </dgm:presLayoutVars>
      </dgm:prSet>
      <dgm:spPr/>
    </dgm:pt>
    <dgm:pt modelId="{A0F6B50C-9ADD-441C-96A0-5D898D88AFE6}" type="pres">
      <dgm:prSet presAssocID="{88A1B218-6758-4485-B036-B66573F114C2}" presName="sp" presStyleCnt="0"/>
      <dgm:spPr/>
    </dgm:pt>
    <dgm:pt modelId="{481BB8AF-65EB-40DE-A0E4-2B313EEFE19B}" type="pres">
      <dgm:prSet presAssocID="{C07E5BEC-9782-463D-89B5-9BF370311B57}" presName="linNode" presStyleCnt="0"/>
      <dgm:spPr/>
    </dgm:pt>
    <dgm:pt modelId="{5F109B8E-E9E5-463F-ADFF-C191A64EF17B}" type="pres">
      <dgm:prSet presAssocID="{C07E5BEC-9782-463D-89B5-9BF370311B57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BCA215E8-928D-4224-8888-AEB3F197F9A9}" type="pres">
      <dgm:prSet presAssocID="{C07E5BEC-9782-463D-89B5-9BF370311B57}" presName="descendantText" presStyleLbl="alignAccFollowNode1" presStyleIdx="1" presStyleCnt="4">
        <dgm:presLayoutVars>
          <dgm:bulletEnabled val="1"/>
        </dgm:presLayoutVars>
      </dgm:prSet>
      <dgm:spPr/>
    </dgm:pt>
    <dgm:pt modelId="{13418A13-336B-401F-8E4B-7A45671074B5}" type="pres">
      <dgm:prSet presAssocID="{C22CF47A-6D14-400B-9396-08B43F2E1837}" presName="sp" presStyleCnt="0"/>
      <dgm:spPr/>
    </dgm:pt>
    <dgm:pt modelId="{B0843321-73A7-484F-A943-25CCB680AF07}" type="pres">
      <dgm:prSet presAssocID="{3132A15A-F5A4-48E2-826E-5F6AFDEDB763}" presName="linNode" presStyleCnt="0"/>
      <dgm:spPr/>
    </dgm:pt>
    <dgm:pt modelId="{18B216B3-AC55-4CD5-9231-7388B6F24460}" type="pres">
      <dgm:prSet presAssocID="{3132A15A-F5A4-48E2-826E-5F6AFDEDB763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0DFFAB72-7137-48C7-8FBD-8D5C7DF366B3}" type="pres">
      <dgm:prSet presAssocID="{3132A15A-F5A4-48E2-826E-5F6AFDEDB763}" presName="descendantText" presStyleLbl="alignAccFollowNode1" presStyleIdx="2" presStyleCnt="4">
        <dgm:presLayoutVars>
          <dgm:bulletEnabled val="1"/>
        </dgm:presLayoutVars>
      </dgm:prSet>
      <dgm:spPr/>
    </dgm:pt>
    <dgm:pt modelId="{A2EFCD55-4705-4196-9B00-63E0571033D4}" type="pres">
      <dgm:prSet presAssocID="{5DDE7185-64AF-4364-B933-42F3B1565A0D}" presName="sp" presStyleCnt="0"/>
      <dgm:spPr/>
    </dgm:pt>
    <dgm:pt modelId="{BA52AFA6-22C2-4DFD-8029-A59F9BA9A60C}" type="pres">
      <dgm:prSet presAssocID="{424B566F-39FD-414E-B45E-BBA347CE65CD}" presName="linNode" presStyleCnt="0"/>
      <dgm:spPr/>
    </dgm:pt>
    <dgm:pt modelId="{E6E70B7F-F5B5-46A0-82DD-13EB092717CC}" type="pres">
      <dgm:prSet presAssocID="{424B566F-39FD-414E-B45E-BBA347CE65CD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78CD11D8-DA74-4C05-8797-EEFF705A3503}" type="pres">
      <dgm:prSet presAssocID="{424B566F-39FD-414E-B45E-BBA347CE65CD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64F4C801-1DB3-430F-A846-17D94B59AAC7}" type="presOf" srcId="{3132A15A-F5A4-48E2-826E-5F6AFDEDB763}" destId="{18B216B3-AC55-4CD5-9231-7388B6F24460}" srcOrd="0" destOrd="0" presId="urn:microsoft.com/office/officeart/2005/8/layout/vList5"/>
    <dgm:cxn modelId="{C487A409-D9C8-4263-84E4-FB0E62CF88DD}" srcId="{FF3B80E0-A344-4507-B064-3F5A25D3962C}" destId="{7BFB9A05-FA8F-4CA6-81BF-0D0174708B8F}" srcOrd="0" destOrd="0" parTransId="{753623DE-8788-4381-83B9-BC9DEB9946D1}" sibTransId="{88A1B218-6758-4485-B036-B66573F114C2}"/>
    <dgm:cxn modelId="{8742380A-3CB1-448A-8293-133A08DB85F0}" srcId="{C07E5BEC-9782-463D-89B5-9BF370311B57}" destId="{5333CA5D-0D2B-424A-AB92-4BCA92DAD257}" srcOrd="0" destOrd="0" parTransId="{2740D697-B6A3-4E0D-8A52-DED87B3AF55F}" sibTransId="{9F205E61-5BD4-4147-A930-FA8AC59FCEAF}"/>
    <dgm:cxn modelId="{C90E8A0E-F6F5-4B4A-85B8-DE54CDCE4888}" type="presOf" srcId="{A998BDE3-DF5F-45CB-A46D-45C7ED4F3D9E}" destId="{78CD11D8-DA74-4C05-8797-EEFF705A3503}" srcOrd="0" destOrd="0" presId="urn:microsoft.com/office/officeart/2005/8/layout/vList5"/>
    <dgm:cxn modelId="{843F2519-B811-4E90-B9BA-C56548F444D9}" srcId="{FF3B80E0-A344-4507-B064-3F5A25D3962C}" destId="{424B566F-39FD-414E-B45E-BBA347CE65CD}" srcOrd="3" destOrd="0" parTransId="{4A7B82D8-23FB-4850-BFB2-74E11948B1A2}" sibTransId="{F1CEE75D-94DB-4977-BC92-789C59671BDD}"/>
    <dgm:cxn modelId="{B9718519-F3A2-4365-A791-66E5C2D060B3}" type="presOf" srcId="{7BFB9A05-FA8F-4CA6-81BF-0D0174708B8F}" destId="{618AECCC-E498-4D5D-A4C2-FDF3ACF44290}" srcOrd="0" destOrd="0" presId="urn:microsoft.com/office/officeart/2005/8/layout/vList5"/>
    <dgm:cxn modelId="{C250AB32-F9E4-48D8-9873-F769FB08A809}" srcId="{FF3B80E0-A344-4507-B064-3F5A25D3962C}" destId="{C07E5BEC-9782-463D-89B5-9BF370311B57}" srcOrd="1" destOrd="0" parTransId="{B87FC580-7151-439B-9F8B-5841AA945AF1}" sibTransId="{C22CF47A-6D14-400B-9396-08B43F2E1837}"/>
    <dgm:cxn modelId="{5FE55938-1483-483B-9FB6-6F21F634C2CF}" type="presOf" srcId="{5333CA5D-0D2B-424A-AB92-4BCA92DAD257}" destId="{BCA215E8-928D-4224-8888-AEB3F197F9A9}" srcOrd="0" destOrd="0" presId="urn:microsoft.com/office/officeart/2005/8/layout/vList5"/>
    <dgm:cxn modelId="{35FA0A4A-4E4E-41B8-9356-1BECF48AACF6}" srcId="{7BFB9A05-FA8F-4CA6-81BF-0D0174708B8F}" destId="{758C91E4-971A-429C-AEBF-B73A6543CFDC}" srcOrd="0" destOrd="0" parTransId="{99C55D32-BCF9-4AA0-B32F-F9F62578B576}" sibTransId="{6B4E17EC-A119-4787-AB4A-8D9FA1B5EDAE}"/>
    <dgm:cxn modelId="{23F6384D-1F1B-4BC4-A5B3-C63587B68357}" type="presOf" srcId="{C07E5BEC-9782-463D-89B5-9BF370311B57}" destId="{5F109B8E-E9E5-463F-ADFF-C191A64EF17B}" srcOrd="0" destOrd="0" presId="urn:microsoft.com/office/officeart/2005/8/layout/vList5"/>
    <dgm:cxn modelId="{CCF9BD6D-7B59-4C0D-B127-40129C66C4D6}" srcId="{424B566F-39FD-414E-B45E-BBA347CE65CD}" destId="{0E247975-D83E-4A7B-8FF6-12218C569927}" srcOrd="1" destOrd="0" parTransId="{7C88D17F-EC75-454D-BBA1-964D2C66F21C}" sibTransId="{A5A1704A-E172-41A3-98A4-3E7BC753F61C}"/>
    <dgm:cxn modelId="{4CD86A51-D9EB-4AA5-BE44-205D02E01CC7}" srcId="{FF3B80E0-A344-4507-B064-3F5A25D3962C}" destId="{3132A15A-F5A4-48E2-826E-5F6AFDEDB763}" srcOrd="2" destOrd="0" parTransId="{FFFAD1BC-E3E9-478F-BA03-75BB1C54ECF7}" sibTransId="{5DDE7185-64AF-4364-B933-42F3B1565A0D}"/>
    <dgm:cxn modelId="{45713854-596F-4D9F-9AB0-0039A5DE5322}" type="presOf" srcId="{0E247975-D83E-4A7B-8FF6-12218C569927}" destId="{78CD11D8-DA74-4C05-8797-EEFF705A3503}" srcOrd="0" destOrd="1" presId="urn:microsoft.com/office/officeart/2005/8/layout/vList5"/>
    <dgm:cxn modelId="{FCE9AB75-09A6-4999-9B03-D7ED613CB8BB}" type="presOf" srcId="{7B260EBA-52C5-446A-9A06-B4677F393431}" destId="{78CD11D8-DA74-4C05-8797-EEFF705A3503}" srcOrd="0" destOrd="2" presId="urn:microsoft.com/office/officeart/2005/8/layout/vList5"/>
    <dgm:cxn modelId="{36513589-D48F-4609-9C01-826C67E04E72}" srcId="{3132A15A-F5A4-48E2-826E-5F6AFDEDB763}" destId="{D14ED0C1-D30A-4155-9C94-1B375626A4ED}" srcOrd="0" destOrd="0" parTransId="{DE3E1C79-A177-4B63-BA01-983A3F9448DD}" sibTransId="{03364B1D-8F69-4542-A166-0BCCDB4F5BFD}"/>
    <dgm:cxn modelId="{CD56379B-48DD-4EA6-A224-34E5E6B7BE6E}" type="presOf" srcId="{D14ED0C1-D30A-4155-9C94-1B375626A4ED}" destId="{0DFFAB72-7137-48C7-8FBD-8D5C7DF366B3}" srcOrd="0" destOrd="0" presId="urn:microsoft.com/office/officeart/2005/8/layout/vList5"/>
    <dgm:cxn modelId="{FADF879D-132B-4BDA-BFC6-7B9B439437B6}" type="presOf" srcId="{424B566F-39FD-414E-B45E-BBA347CE65CD}" destId="{E6E70B7F-F5B5-46A0-82DD-13EB092717CC}" srcOrd="0" destOrd="0" presId="urn:microsoft.com/office/officeart/2005/8/layout/vList5"/>
    <dgm:cxn modelId="{FCACB3B1-324A-432C-8660-9DBAEC048386}" srcId="{424B566F-39FD-414E-B45E-BBA347CE65CD}" destId="{7B260EBA-52C5-446A-9A06-B4677F393431}" srcOrd="2" destOrd="0" parTransId="{8A883B80-6954-466D-81EB-84C2965FB6AB}" sibTransId="{7C65E812-7C5D-439A-B505-6DE49F25E290}"/>
    <dgm:cxn modelId="{3A7E41C5-B44F-423F-A275-620100C8DF86}" type="presOf" srcId="{FF3B80E0-A344-4507-B064-3F5A25D3962C}" destId="{D1B13EB7-BFD3-45C1-8F2A-FEBDB2A5760E}" srcOrd="0" destOrd="0" presId="urn:microsoft.com/office/officeart/2005/8/layout/vList5"/>
    <dgm:cxn modelId="{1B0047C7-E8B8-4A6A-AF79-62C635CCEB3E}" srcId="{424B566F-39FD-414E-B45E-BBA347CE65CD}" destId="{A998BDE3-DF5F-45CB-A46D-45C7ED4F3D9E}" srcOrd="0" destOrd="0" parTransId="{23E07CF9-4103-4FD7-90B9-D6D1BD2225B8}" sibTransId="{B634D00C-BCFA-4AD1-9C26-36D23783B987}"/>
    <dgm:cxn modelId="{AACDD2DB-7A46-48F6-9771-1DFC03C22533}" type="presOf" srcId="{758C91E4-971A-429C-AEBF-B73A6543CFDC}" destId="{691E2AA4-3399-4341-BEB3-83225E093BB5}" srcOrd="0" destOrd="0" presId="urn:microsoft.com/office/officeart/2005/8/layout/vList5"/>
    <dgm:cxn modelId="{7E48D6A2-FEB5-41FC-AC63-758D33A24838}" type="presParOf" srcId="{D1B13EB7-BFD3-45C1-8F2A-FEBDB2A5760E}" destId="{A66EEAB4-61C9-44E8-844C-42749C8CF7B5}" srcOrd="0" destOrd="0" presId="urn:microsoft.com/office/officeart/2005/8/layout/vList5"/>
    <dgm:cxn modelId="{482215AE-370D-4546-86C4-295428C86B66}" type="presParOf" srcId="{A66EEAB4-61C9-44E8-844C-42749C8CF7B5}" destId="{618AECCC-E498-4D5D-A4C2-FDF3ACF44290}" srcOrd="0" destOrd="0" presId="urn:microsoft.com/office/officeart/2005/8/layout/vList5"/>
    <dgm:cxn modelId="{22C05D19-FD41-4291-871A-A8A3EA86DA03}" type="presParOf" srcId="{A66EEAB4-61C9-44E8-844C-42749C8CF7B5}" destId="{691E2AA4-3399-4341-BEB3-83225E093BB5}" srcOrd="1" destOrd="0" presId="urn:microsoft.com/office/officeart/2005/8/layout/vList5"/>
    <dgm:cxn modelId="{2366CDEF-8F4D-42F9-A1E6-99E01B0CA2E4}" type="presParOf" srcId="{D1B13EB7-BFD3-45C1-8F2A-FEBDB2A5760E}" destId="{A0F6B50C-9ADD-441C-96A0-5D898D88AFE6}" srcOrd="1" destOrd="0" presId="urn:microsoft.com/office/officeart/2005/8/layout/vList5"/>
    <dgm:cxn modelId="{3CCB8005-4AE9-411F-B532-7CB1E7B6A6F4}" type="presParOf" srcId="{D1B13EB7-BFD3-45C1-8F2A-FEBDB2A5760E}" destId="{481BB8AF-65EB-40DE-A0E4-2B313EEFE19B}" srcOrd="2" destOrd="0" presId="urn:microsoft.com/office/officeart/2005/8/layout/vList5"/>
    <dgm:cxn modelId="{F9CFC5D9-0019-46E4-8432-5759BCADC0FD}" type="presParOf" srcId="{481BB8AF-65EB-40DE-A0E4-2B313EEFE19B}" destId="{5F109B8E-E9E5-463F-ADFF-C191A64EF17B}" srcOrd="0" destOrd="0" presId="urn:microsoft.com/office/officeart/2005/8/layout/vList5"/>
    <dgm:cxn modelId="{93EC81E0-ABCD-4103-A6C2-3762156D5F8A}" type="presParOf" srcId="{481BB8AF-65EB-40DE-A0E4-2B313EEFE19B}" destId="{BCA215E8-928D-4224-8888-AEB3F197F9A9}" srcOrd="1" destOrd="0" presId="urn:microsoft.com/office/officeart/2005/8/layout/vList5"/>
    <dgm:cxn modelId="{DD08D153-C126-4E15-8103-0F9EFDA9DE99}" type="presParOf" srcId="{D1B13EB7-BFD3-45C1-8F2A-FEBDB2A5760E}" destId="{13418A13-336B-401F-8E4B-7A45671074B5}" srcOrd="3" destOrd="0" presId="urn:microsoft.com/office/officeart/2005/8/layout/vList5"/>
    <dgm:cxn modelId="{41F2AFAD-40E7-4FE1-B2F9-3FDC220C5F7D}" type="presParOf" srcId="{D1B13EB7-BFD3-45C1-8F2A-FEBDB2A5760E}" destId="{B0843321-73A7-484F-A943-25CCB680AF07}" srcOrd="4" destOrd="0" presId="urn:microsoft.com/office/officeart/2005/8/layout/vList5"/>
    <dgm:cxn modelId="{BC633139-9DAC-4D00-A111-8E2376CCC846}" type="presParOf" srcId="{B0843321-73A7-484F-A943-25CCB680AF07}" destId="{18B216B3-AC55-4CD5-9231-7388B6F24460}" srcOrd="0" destOrd="0" presId="urn:microsoft.com/office/officeart/2005/8/layout/vList5"/>
    <dgm:cxn modelId="{74576169-6970-4E4B-9935-7929D8A11D59}" type="presParOf" srcId="{B0843321-73A7-484F-A943-25CCB680AF07}" destId="{0DFFAB72-7137-48C7-8FBD-8D5C7DF366B3}" srcOrd="1" destOrd="0" presId="urn:microsoft.com/office/officeart/2005/8/layout/vList5"/>
    <dgm:cxn modelId="{E42BD722-CF3F-4F02-98D5-BD58DD33102F}" type="presParOf" srcId="{D1B13EB7-BFD3-45C1-8F2A-FEBDB2A5760E}" destId="{A2EFCD55-4705-4196-9B00-63E0571033D4}" srcOrd="5" destOrd="0" presId="urn:microsoft.com/office/officeart/2005/8/layout/vList5"/>
    <dgm:cxn modelId="{3E539F0C-D34F-427B-96DF-BB5FB2B4A9B2}" type="presParOf" srcId="{D1B13EB7-BFD3-45C1-8F2A-FEBDB2A5760E}" destId="{BA52AFA6-22C2-4DFD-8029-A59F9BA9A60C}" srcOrd="6" destOrd="0" presId="urn:microsoft.com/office/officeart/2005/8/layout/vList5"/>
    <dgm:cxn modelId="{8F6DAB59-F25B-4FA7-8818-5F2E55E5042F}" type="presParOf" srcId="{BA52AFA6-22C2-4DFD-8029-A59F9BA9A60C}" destId="{E6E70B7F-F5B5-46A0-82DD-13EB092717CC}" srcOrd="0" destOrd="0" presId="urn:microsoft.com/office/officeart/2005/8/layout/vList5"/>
    <dgm:cxn modelId="{35EDD3DC-D313-4567-9043-F6063D835E64}" type="presParOf" srcId="{BA52AFA6-22C2-4DFD-8029-A59F9BA9A60C}" destId="{78CD11D8-DA74-4C05-8797-EEFF705A350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6AFA7D-A9F0-447F-910C-3281679F1E9F}">
      <dsp:nvSpPr>
        <dsp:cNvPr id="0" name=""/>
        <dsp:cNvSpPr/>
      </dsp:nvSpPr>
      <dsp:spPr>
        <a:xfrm>
          <a:off x="0" y="549369"/>
          <a:ext cx="10515600" cy="10342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rgbClr val="FFFFFF"/>
              </a:solidFill>
              <a:latin typeface="Aptos"/>
              <a:ea typeface="+mn-ea"/>
              <a:cs typeface="+mn-cs"/>
            </a:rPr>
            <a:t>¿Qué patrones del tráfico de red permiten diferenciar el tráfico normal de los distintos tipos de ataques DDoS en dispositivos IoT?¿Por que?</a:t>
          </a:r>
        </a:p>
      </dsp:txBody>
      <dsp:txXfrm>
        <a:off x="50489" y="599858"/>
        <a:ext cx="10414622" cy="933302"/>
      </dsp:txXfrm>
    </dsp:sp>
    <dsp:sp modelId="{923C1182-2CB9-4B37-A4C2-62D01493B14C}">
      <dsp:nvSpPr>
        <dsp:cNvPr id="0" name=""/>
        <dsp:cNvSpPr/>
      </dsp:nvSpPr>
      <dsp:spPr>
        <a:xfrm>
          <a:off x="0" y="1658529"/>
          <a:ext cx="10515600" cy="10342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¿</a:t>
          </a:r>
          <a:r>
            <a:rPr lang="en-US" sz="2600" kern="12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Que</a:t>
          </a:r>
          <a:r>
            <a:rPr lang="en-US" sz="260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variables </a:t>
          </a:r>
          <a:r>
            <a:rPr lang="en-US" sz="2600" kern="12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resultan</a:t>
          </a:r>
          <a:r>
            <a:rPr lang="en-US" sz="260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mas </a:t>
          </a:r>
          <a:r>
            <a:rPr lang="en-US" sz="2600" kern="12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significativas</a:t>
          </a:r>
          <a:r>
            <a:rPr lang="en-US" sz="260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</a:t>
          </a:r>
          <a:r>
            <a:rPr lang="en-US" sz="2600" kern="12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que</a:t>
          </a:r>
          <a:r>
            <a:rPr lang="en-US" sz="260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</a:t>
          </a:r>
          <a:r>
            <a:rPr lang="en-US" sz="2600" kern="12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otras</a:t>
          </a:r>
          <a:r>
            <a:rPr lang="en-US" sz="260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?</a:t>
          </a:r>
        </a:p>
      </dsp:txBody>
      <dsp:txXfrm>
        <a:off x="50489" y="1709018"/>
        <a:ext cx="10414622" cy="933302"/>
      </dsp:txXfrm>
    </dsp:sp>
    <dsp:sp modelId="{0B971227-243E-4145-994D-7B85D95B71DD}">
      <dsp:nvSpPr>
        <dsp:cNvPr id="0" name=""/>
        <dsp:cNvSpPr/>
      </dsp:nvSpPr>
      <dsp:spPr>
        <a:xfrm>
          <a:off x="0" y="2767689"/>
          <a:ext cx="10515600" cy="10342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¿</a:t>
          </a:r>
          <a:r>
            <a:rPr lang="en-US" sz="2600" kern="12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Puede</a:t>
          </a:r>
          <a:r>
            <a:rPr lang="en-US" sz="260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un </a:t>
          </a:r>
          <a:r>
            <a:rPr lang="en-US" sz="2600" kern="12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modelo</a:t>
          </a:r>
          <a:r>
            <a:rPr lang="en-US" sz="260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de Machine Learning ser </a:t>
          </a:r>
          <a:r>
            <a:rPr lang="en-US" sz="2600" kern="12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entrenado</a:t>
          </a:r>
          <a:r>
            <a:rPr lang="en-US" sz="260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con </a:t>
          </a:r>
          <a:r>
            <a:rPr lang="en-US" sz="2600" kern="12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trafico</a:t>
          </a:r>
          <a:r>
            <a:rPr lang="en-US" sz="260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similar para </a:t>
          </a:r>
          <a:r>
            <a:rPr lang="en-US" sz="2600" kern="12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predecir</a:t>
          </a:r>
          <a:r>
            <a:rPr lang="en-US" sz="260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</a:t>
          </a:r>
          <a:r>
            <a:rPr lang="en-US" sz="2600" kern="12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ataques</a:t>
          </a:r>
          <a:r>
            <a:rPr lang="en-US" sz="260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?</a:t>
          </a:r>
        </a:p>
      </dsp:txBody>
      <dsp:txXfrm>
        <a:off x="50489" y="2818178"/>
        <a:ext cx="10414622" cy="9333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8E0E13-430D-4465-8B47-77618EF3E0E8}">
      <dsp:nvSpPr>
        <dsp:cNvPr id="0" name=""/>
        <dsp:cNvSpPr/>
      </dsp:nvSpPr>
      <dsp:spPr>
        <a:xfrm>
          <a:off x="0" y="1831"/>
          <a:ext cx="11565145" cy="7803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A1660D-1137-45A9-B3EF-181F74417BC9}">
      <dsp:nvSpPr>
        <dsp:cNvPr id="0" name=""/>
        <dsp:cNvSpPr/>
      </dsp:nvSpPr>
      <dsp:spPr>
        <a:xfrm>
          <a:off x="236042" y="177400"/>
          <a:ext cx="429168" cy="42916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574DAD-5D45-4556-A293-F6C9C88A1EE9}">
      <dsp:nvSpPr>
        <dsp:cNvPr id="0" name=""/>
        <dsp:cNvSpPr/>
      </dsp:nvSpPr>
      <dsp:spPr>
        <a:xfrm>
          <a:off x="901253" y="1831"/>
          <a:ext cx="10663891" cy="780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82" tIns="82582" rIns="82582" bIns="8258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hlinkClick xmlns:r="http://schemas.openxmlformats.org/officeDocument/2006/relationships" r:id="rId2"/>
            </a:rPr>
            <a:t>Dataset</a:t>
          </a:r>
          <a:r>
            <a:rPr lang="en-US" sz="1900" kern="1200" dirty="0"/>
            <a:t> extraido de Kaggle, </a:t>
          </a:r>
          <a:r>
            <a:rPr lang="en-US" sz="1900" kern="1200" dirty="0" err="1"/>
            <a:t>subido</a:t>
          </a:r>
          <a:r>
            <a:rPr lang="en-US" sz="1900" kern="1200" dirty="0"/>
            <a:t> </a:t>
          </a:r>
          <a:r>
            <a:rPr lang="en-US" sz="1900" kern="1200" dirty="0" err="1"/>
            <a:t>por</a:t>
          </a:r>
          <a:r>
            <a:rPr lang="en-US" sz="1900" kern="1200" dirty="0"/>
            <a:t> SIDDHARTH M</a:t>
          </a:r>
          <a:r>
            <a:rPr lang="en-US" sz="1900" kern="1200" dirty="0">
              <a:latin typeface="Aptos Display"/>
              <a:ea typeface="Calibri"/>
              <a:cs typeface="Calibri"/>
            </a:rPr>
            <a:t>.</a:t>
          </a:r>
        </a:p>
      </dsp:txBody>
      <dsp:txXfrm>
        <a:off x="901253" y="1831"/>
        <a:ext cx="10663891" cy="780306"/>
      </dsp:txXfrm>
    </dsp:sp>
    <dsp:sp modelId="{46D3471E-59BB-4DF8-9E72-DA07BA3A4ED7}">
      <dsp:nvSpPr>
        <dsp:cNvPr id="0" name=""/>
        <dsp:cNvSpPr/>
      </dsp:nvSpPr>
      <dsp:spPr>
        <a:xfrm>
          <a:off x="0" y="977213"/>
          <a:ext cx="11565145" cy="7803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15586F-8D2B-4C6D-919B-CD330567D535}">
      <dsp:nvSpPr>
        <dsp:cNvPr id="0" name=""/>
        <dsp:cNvSpPr/>
      </dsp:nvSpPr>
      <dsp:spPr>
        <a:xfrm>
          <a:off x="236042" y="1152782"/>
          <a:ext cx="429168" cy="429168"/>
        </a:xfrm>
        <a:prstGeom prst="rect">
          <a:avLst/>
        </a:prstGeom>
        <a:solidFill>
          <a:schemeClr val="bg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C3E4B2-2FA6-4376-90D7-5D16CCF6912E}">
      <dsp:nvSpPr>
        <dsp:cNvPr id="0" name=""/>
        <dsp:cNvSpPr/>
      </dsp:nvSpPr>
      <dsp:spPr>
        <a:xfrm>
          <a:off x="901253" y="977213"/>
          <a:ext cx="10663891" cy="780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82" tIns="82582" rIns="82582" bIns="8258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Calibri"/>
              <a:ea typeface="Calibri"/>
              <a:cs typeface="Calibri"/>
            </a:rPr>
            <a:t>Bot-</a:t>
          </a:r>
          <a:r>
            <a:rPr lang="en-US" sz="1900" kern="1200" dirty="0" err="1">
              <a:latin typeface="Calibri"/>
              <a:ea typeface="Calibri"/>
              <a:cs typeface="Calibri"/>
            </a:rPr>
            <a:t>Iot</a:t>
          </a:r>
          <a:r>
            <a:rPr lang="en-US" sz="1900" kern="1200" dirty="0">
              <a:latin typeface="Calibri"/>
              <a:ea typeface="Calibri"/>
              <a:cs typeface="Calibri"/>
            </a:rPr>
            <a:t>: El dataset </a:t>
          </a:r>
          <a:r>
            <a:rPr lang="en-US" sz="1900" kern="1200" dirty="0" err="1">
              <a:latin typeface="Calibri"/>
              <a:ea typeface="Calibri"/>
              <a:cs typeface="Calibri"/>
            </a:rPr>
            <a:t>hace</a:t>
          </a:r>
          <a:r>
            <a:rPr lang="en-US" sz="1900" kern="1200" dirty="0">
              <a:latin typeface="Calibri"/>
              <a:ea typeface="Calibri"/>
              <a:cs typeface="Calibri"/>
            </a:rPr>
            <a:t> </a:t>
          </a:r>
          <a:r>
            <a:rPr lang="en-US" sz="1900" kern="1200" dirty="0" err="1">
              <a:latin typeface="Calibri"/>
              <a:ea typeface="Calibri"/>
              <a:cs typeface="Calibri"/>
            </a:rPr>
            <a:t>uso</a:t>
          </a:r>
          <a:r>
            <a:rPr lang="en-US" sz="1900" kern="1200" dirty="0">
              <a:latin typeface="Calibri"/>
              <a:ea typeface="Calibri"/>
              <a:cs typeface="Calibri"/>
            </a:rPr>
            <a:t> de </a:t>
          </a:r>
          <a:r>
            <a:rPr lang="en-US" sz="1900" kern="1200" dirty="0" err="1">
              <a:latin typeface="Calibri"/>
              <a:ea typeface="Calibri"/>
              <a:cs typeface="Calibri"/>
            </a:rPr>
            <a:t>dispositivos</a:t>
          </a:r>
          <a:r>
            <a:rPr lang="en-US" sz="1900" kern="1200" dirty="0">
              <a:latin typeface="Calibri"/>
              <a:ea typeface="Calibri"/>
              <a:cs typeface="Calibri"/>
            </a:rPr>
            <a:t> </a:t>
          </a:r>
          <a:r>
            <a:rPr lang="en-US" sz="1900" kern="1200" dirty="0" err="1">
              <a:latin typeface="Calibri"/>
              <a:ea typeface="Calibri"/>
              <a:cs typeface="Calibri"/>
            </a:rPr>
            <a:t>infectados</a:t>
          </a:r>
          <a:r>
            <a:rPr lang="en-US" sz="1900" kern="1200" dirty="0">
              <a:latin typeface="Calibri"/>
              <a:ea typeface="Calibri"/>
              <a:cs typeface="Calibri"/>
            </a:rPr>
            <a:t> para </a:t>
          </a:r>
          <a:r>
            <a:rPr lang="en-US" sz="1900" kern="1200" dirty="0" err="1">
              <a:latin typeface="Calibri"/>
              <a:ea typeface="Calibri"/>
              <a:cs typeface="Calibri"/>
            </a:rPr>
            <a:t>maximizar</a:t>
          </a:r>
          <a:r>
            <a:rPr lang="en-US" sz="1900" kern="1200" dirty="0">
              <a:latin typeface="Calibri"/>
              <a:ea typeface="Calibri"/>
              <a:cs typeface="Calibri"/>
            </a:rPr>
            <a:t> el </a:t>
          </a:r>
          <a:r>
            <a:rPr lang="en-US" sz="1900" kern="1200" dirty="0" err="1">
              <a:latin typeface="Calibri"/>
              <a:ea typeface="Calibri"/>
              <a:cs typeface="Calibri"/>
            </a:rPr>
            <a:t>alcance</a:t>
          </a:r>
          <a:r>
            <a:rPr lang="en-US" sz="1900" kern="1200" dirty="0">
              <a:latin typeface="Calibri"/>
              <a:ea typeface="Calibri"/>
              <a:cs typeface="Calibri"/>
            </a:rPr>
            <a:t> del </a:t>
          </a:r>
          <a:r>
            <a:rPr lang="en-US" sz="1900" kern="1200" dirty="0" err="1">
              <a:latin typeface="Calibri"/>
              <a:ea typeface="Calibri"/>
              <a:cs typeface="Calibri"/>
            </a:rPr>
            <a:t>ataque</a:t>
          </a:r>
          <a:r>
            <a:rPr lang="en-US" sz="1900" kern="1200" dirty="0">
              <a:latin typeface="Calibri"/>
              <a:ea typeface="Calibri"/>
              <a:cs typeface="Calibri"/>
            </a:rPr>
            <a:t>.</a:t>
          </a:r>
        </a:p>
      </dsp:txBody>
      <dsp:txXfrm>
        <a:off x="901253" y="977213"/>
        <a:ext cx="10663891" cy="780306"/>
      </dsp:txXfrm>
    </dsp:sp>
    <dsp:sp modelId="{60936616-E6F5-475C-9B35-4F32533BEEB4}">
      <dsp:nvSpPr>
        <dsp:cNvPr id="0" name=""/>
        <dsp:cNvSpPr/>
      </dsp:nvSpPr>
      <dsp:spPr>
        <a:xfrm>
          <a:off x="0" y="1952596"/>
          <a:ext cx="11565145" cy="7803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5B436C-A016-44DC-A209-28B11FCEB9A6}">
      <dsp:nvSpPr>
        <dsp:cNvPr id="0" name=""/>
        <dsp:cNvSpPr/>
      </dsp:nvSpPr>
      <dsp:spPr>
        <a:xfrm>
          <a:off x="236042" y="2128165"/>
          <a:ext cx="429168" cy="429168"/>
        </a:xfrm>
        <a:prstGeom prst="rect">
          <a:avLst/>
        </a:prstGeom>
        <a:solidFill>
          <a:schemeClr val="bg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573945-F979-467A-8CAE-E40118674481}">
      <dsp:nvSpPr>
        <dsp:cNvPr id="0" name=""/>
        <dsp:cNvSpPr/>
      </dsp:nvSpPr>
      <dsp:spPr>
        <a:xfrm>
          <a:off x="901253" y="1952596"/>
          <a:ext cx="10663891" cy="780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82" tIns="82582" rIns="82582" bIns="8258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>
              <a:latin typeface="Calibri"/>
              <a:ea typeface="Calibri"/>
              <a:cs typeface="Calibri"/>
            </a:rPr>
            <a:t>Metricas</a:t>
          </a:r>
          <a:r>
            <a:rPr lang="en-US" sz="1900" kern="1200" dirty="0">
              <a:latin typeface="Calibri"/>
              <a:ea typeface="Calibri"/>
              <a:cs typeface="Calibri"/>
            </a:rPr>
            <a:t> de </a:t>
          </a:r>
          <a:r>
            <a:rPr lang="en-US" sz="1900" kern="1200" dirty="0" err="1">
              <a:latin typeface="Calibri"/>
              <a:ea typeface="Calibri"/>
              <a:cs typeface="Calibri"/>
            </a:rPr>
            <a:t>Trafico</a:t>
          </a:r>
          <a:r>
            <a:rPr lang="en-US" sz="1900" kern="1200" dirty="0">
              <a:latin typeface="Calibri"/>
              <a:ea typeface="Calibri"/>
              <a:cs typeface="Calibri"/>
            </a:rPr>
            <a:t> DDoS y Trafico normal.</a:t>
          </a:r>
        </a:p>
      </dsp:txBody>
      <dsp:txXfrm>
        <a:off x="901253" y="1952596"/>
        <a:ext cx="10663891" cy="780306"/>
      </dsp:txXfrm>
    </dsp:sp>
    <dsp:sp modelId="{605CA65F-4428-4DDF-A91E-13D25062BEBB}">
      <dsp:nvSpPr>
        <dsp:cNvPr id="0" name=""/>
        <dsp:cNvSpPr/>
      </dsp:nvSpPr>
      <dsp:spPr>
        <a:xfrm>
          <a:off x="0" y="2927979"/>
          <a:ext cx="11565145" cy="7803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66B901-8A4F-4A1D-B80B-226DA0112367}">
      <dsp:nvSpPr>
        <dsp:cNvPr id="0" name=""/>
        <dsp:cNvSpPr/>
      </dsp:nvSpPr>
      <dsp:spPr>
        <a:xfrm>
          <a:off x="236042" y="3103548"/>
          <a:ext cx="429168" cy="42916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776620-8338-4CD7-B9E9-9FD13103728B}">
      <dsp:nvSpPr>
        <dsp:cNvPr id="0" name=""/>
        <dsp:cNvSpPr/>
      </dsp:nvSpPr>
      <dsp:spPr>
        <a:xfrm>
          <a:off x="901253" y="2927979"/>
          <a:ext cx="10663891" cy="780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82" tIns="82582" rIns="82582" bIns="8258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1.927.101 </a:t>
          </a:r>
          <a:r>
            <a:rPr lang="en-US" sz="1900" kern="1200" dirty="0" err="1"/>
            <a:t>Registros</a:t>
          </a:r>
          <a:r>
            <a:rPr lang="en-US" sz="1900" kern="1200" dirty="0"/>
            <a:t> </a:t>
          </a:r>
          <a:r>
            <a:rPr lang="en-US" sz="1900" kern="1200" dirty="0" err="1"/>
            <a:t>distribuidos</a:t>
          </a:r>
          <a:r>
            <a:rPr lang="en-US" sz="1900" kern="1200" dirty="0"/>
            <a:t> </a:t>
          </a:r>
          <a:r>
            <a:rPr lang="en-US" sz="1900" kern="1200" dirty="0" err="1"/>
            <a:t>en</a:t>
          </a:r>
          <a:r>
            <a:rPr lang="en-US" sz="1900" kern="1200" dirty="0"/>
            <a:t> </a:t>
          </a:r>
          <a:r>
            <a:rPr lang="en-US" sz="1900" kern="1200" dirty="0">
              <a:latin typeface="Aptos Display" panose="02110004020202020204"/>
            </a:rPr>
            <a:t>47</a:t>
          </a:r>
          <a:r>
            <a:rPr lang="en-US" sz="1900" kern="1200" dirty="0"/>
            <a:t> columnas.</a:t>
          </a:r>
        </a:p>
      </dsp:txBody>
      <dsp:txXfrm>
        <a:off x="901253" y="2927979"/>
        <a:ext cx="10663891" cy="780306"/>
      </dsp:txXfrm>
    </dsp:sp>
    <dsp:sp modelId="{A16459F7-ACBA-4CA6-B648-36DCE2D02238}">
      <dsp:nvSpPr>
        <dsp:cNvPr id="0" name=""/>
        <dsp:cNvSpPr/>
      </dsp:nvSpPr>
      <dsp:spPr>
        <a:xfrm>
          <a:off x="0" y="3903361"/>
          <a:ext cx="11565145" cy="7803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595B60-D9E9-41A2-ADFB-5E86DB0F1DA1}">
      <dsp:nvSpPr>
        <dsp:cNvPr id="0" name=""/>
        <dsp:cNvSpPr/>
      </dsp:nvSpPr>
      <dsp:spPr>
        <a:xfrm>
          <a:off x="236042" y="4078930"/>
          <a:ext cx="429168" cy="429168"/>
        </a:xfrm>
        <a:prstGeom prst="rect">
          <a:avLst/>
        </a:prstGeom>
        <a:solidFill>
          <a:schemeClr val="bg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BE7FBC-65DB-49E1-B6D4-AB7FE7E49DE0}">
      <dsp:nvSpPr>
        <dsp:cNvPr id="0" name=""/>
        <dsp:cNvSpPr/>
      </dsp:nvSpPr>
      <dsp:spPr>
        <a:xfrm>
          <a:off x="901253" y="3903361"/>
          <a:ext cx="10663891" cy="780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82" tIns="82582" rIns="82582" bIns="8258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Aptos Display" panose="02110004020202020204"/>
            </a:rPr>
            <a:t>2 IP's de </a:t>
          </a:r>
          <a:r>
            <a:rPr lang="en-US" sz="1900" kern="1200" dirty="0" err="1">
              <a:latin typeface="Aptos Display" panose="02110004020202020204"/>
            </a:rPr>
            <a:t>interes</a:t>
          </a:r>
          <a:r>
            <a:rPr lang="en-US" sz="1900" kern="1200" dirty="0">
              <a:latin typeface="Aptos Display" panose="02110004020202020204"/>
            </a:rPr>
            <a:t>, 192.168.100.3 y 192.168.100.n</a:t>
          </a:r>
        </a:p>
      </dsp:txBody>
      <dsp:txXfrm>
        <a:off x="901253" y="3903361"/>
        <a:ext cx="10663891" cy="780306"/>
      </dsp:txXfrm>
    </dsp:sp>
    <dsp:sp modelId="{0C1FAFC7-DD74-42E1-A439-B558FC806354}">
      <dsp:nvSpPr>
        <dsp:cNvPr id="0" name=""/>
        <dsp:cNvSpPr/>
      </dsp:nvSpPr>
      <dsp:spPr>
        <a:xfrm>
          <a:off x="0" y="4878744"/>
          <a:ext cx="11565145" cy="7803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288F03-78CD-4D8B-B5A6-A850B8E1F8E3}">
      <dsp:nvSpPr>
        <dsp:cNvPr id="0" name=""/>
        <dsp:cNvSpPr/>
      </dsp:nvSpPr>
      <dsp:spPr>
        <a:xfrm>
          <a:off x="236042" y="5054313"/>
          <a:ext cx="429168" cy="429168"/>
        </a:xfrm>
        <a:prstGeom prst="rect">
          <a:avLst/>
        </a:prstGeom>
        <a:solidFill>
          <a:schemeClr val="bg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6A9BF9-168D-41A4-9314-054BD59FBC88}">
      <dsp:nvSpPr>
        <dsp:cNvPr id="0" name=""/>
        <dsp:cNvSpPr/>
      </dsp:nvSpPr>
      <dsp:spPr>
        <a:xfrm>
          <a:off x="901253" y="4878744"/>
          <a:ext cx="10663891" cy="780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82" tIns="82582" rIns="82582" bIns="8258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Aptos Display" panose="02110004020202020204"/>
            </a:rPr>
            <a:t>Variables Principales: </a:t>
          </a:r>
          <a:r>
            <a:rPr lang="en-US" sz="1900" kern="1200" dirty="0"/>
            <a:t>destination_port, source/destination_address, total_packets_from_sourceip/destip, num_incoming.connection_per</a:t>
          </a:r>
          <a:r>
            <a:rPr lang="en-US" sz="1900" kern="1200" dirty="0">
              <a:latin typeface="Aptos Display" panose="02110004020202020204"/>
            </a:rPr>
            <a:t>_destip/sourceip)</a:t>
          </a:r>
          <a:endParaRPr lang="en-US" sz="1900" kern="1200" dirty="0"/>
        </a:p>
      </dsp:txBody>
      <dsp:txXfrm>
        <a:off x="901253" y="4878744"/>
        <a:ext cx="10663891" cy="7803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1E2AA4-3399-4341-BEB3-83225E093BB5}">
      <dsp:nvSpPr>
        <dsp:cNvPr id="0" name=""/>
        <dsp:cNvSpPr/>
      </dsp:nvSpPr>
      <dsp:spPr>
        <a:xfrm rot="5400000">
          <a:off x="6731505" y="-2838935"/>
          <a:ext cx="838204" cy="6729984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dirty="0"/>
            <a:t>Por consecuencia, una elevada tasa de bytes en una </a:t>
          </a:r>
          <a:r>
            <a:rPr lang="es-ES" sz="1500" kern="1200" dirty="0" err="1"/>
            <a:t>direccion</a:t>
          </a:r>
          <a:r>
            <a:rPr lang="es-ES" sz="1500" kern="1200" dirty="0"/>
            <a:t>. </a:t>
          </a:r>
          <a:endParaRPr lang="en-US" sz="1500" kern="1200" dirty="0"/>
        </a:p>
      </dsp:txBody>
      <dsp:txXfrm rot="-5400000">
        <a:off x="3785615" y="147873"/>
        <a:ext cx="6689066" cy="756368"/>
      </dsp:txXfrm>
    </dsp:sp>
    <dsp:sp modelId="{618AECCC-E498-4D5D-A4C2-FDF3ACF44290}">
      <dsp:nvSpPr>
        <dsp:cNvPr id="0" name=""/>
        <dsp:cNvSpPr/>
      </dsp:nvSpPr>
      <dsp:spPr>
        <a:xfrm>
          <a:off x="0" y="2178"/>
          <a:ext cx="3785616" cy="104775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 err="1"/>
            <a:t>Envio</a:t>
          </a:r>
          <a:r>
            <a:rPr lang="es-ES" sz="2000" kern="1200" dirty="0"/>
            <a:t> masivo de paquetes de diversos puertos a un mismo puerto de destino.</a:t>
          </a:r>
          <a:endParaRPr lang="en-US" sz="2000" kern="1200" dirty="0"/>
        </a:p>
      </dsp:txBody>
      <dsp:txXfrm>
        <a:off x="51147" y="53325"/>
        <a:ext cx="3683322" cy="945461"/>
      </dsp:txXfrm>
    </dsp:sp>
    <dsp:sp modelId="{BCA215E8-928D-4224-8888-AEB3F197F9A9}">
      <dsp:nvSpPr>
        <dsp:cNvPr id="0" name=""/>
        <dsp:cNvSpPr/>
      </dsp:nvSpPr>
      <dsp:spPr>
        <a:xfrm rot="5400000">
          <a:off x="6731505" y="-1738791"/>
          <a:ext cx="838204" cy="6729984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dirty="0"/>
            <a:t>Poca respuesta a las conexiones entrantes.</a:t>
          </a:r>
          <a:endParaRPr lang="en-US" sz="1500" kern="1200" dirty="0"/>
        </a:p>
      </dsp:txBody>
      <dsp:txXfrm rot="-5400000">
        <a:off x="3785615" y="1248017"/>
        <a:ext cx="6689066" cy="756368"/>
      </dsp:txXfrm>
    </dsp:sp>
    <dsp:sp modelId="{5F109B8E-E9E5-463F-ADFF-C191A64EF17B}">
      <dsp:nvSpPr>
        <dsp:cNvPr id="0" name=""/>
        <dsp:cNvSpPr/>
      </dsp:nvSpPr>
      <dsp:spPr>
        <a:xfrm>
          <a:off x="0" y="1102322"/>
          <a:ext cx="3785616" cy="104775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Muchos intentos de conexiones que empiezan sin que termine el anterior.</a:t>
          </a:r>
          <a:endParaRPr lang="en-US" sz="2000" kern="1200" dirty="0"/>
        </a:p>
      </dsp:txBody>
      <dsp:txXfrm>
        <a:off x="51147" y="1153469"/>
        <a:ext cx="3683322" cy="945461"/>
      </dsp:txXfrm>
    </dsp:sp>
    <dsp:sp modelId="{0DFFAB72-7137-48C7-8FBD-8D5C7DF366B3}">
      <dsp:nvSpPr>
        <dsp:cNvPr id="0" name=""/>
        <dsp:cNvSpPr/>
      </dsp:nvSpPr>
      <dsp:spPr>
        <a:xfrm rot="5400000">
          <a:off x="6731505" y="-638648"/>
          <a:ext cx="838204" cy="6729984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dirty="0"/>
            <a:t>Todas atacan a una misma IP de destino.</a:t>
          </a:r>
          <a:endParaRPr lang="en-US" sz="1500" kern="1200" dirty="0"/>
        </a:p>
      </dsp:txBody>
      <dsp:txXfrm rot="-5400000">
        <a:off x="3785615" y="2348160"/>
        <a:ext cx="6689066" cy="756368"/>
      </dsp:txXfrm>
    </dsp:sp>
    <dsp:sp modelId="{18B216B3-AC55-4CD5-9231-7388B6F24460}">
      <dsp:nvSpPr>
        <dsp:cNvPr id="0" name=""/>
        <dsp:cNvSpPr/>
      </dsp:nvSpPr>
      <dsp:spPr>
        <a:xfrm>
          <a:off x="0" y="2202465"/>
          <a:ext cx="3785616" cy="104775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Diversas </a:t>
          </a:r>
          <a:r>
            <a:rPr lang="es-ES" sz="2000" kern="1200" dirty="0" err="1"/>
            <a:t>IP's</a:t>
          </a:r>
          <a:r>
            <a:rPr lang="es-ES" sz="2000" kern="1200" dirty="0"/>
            <a:t> origen</a:t>
          </a:r>
          <a:r>
            <a:rPr lang="es-ES" sz="2000" kern="1200" dirty="0">
              <a:latin typeface="Aptos Display" panose="02110004020202020204"/>
            </a:rPr>
            <a:t>.</a:t>
          </a:r>
          <a:endParaRPr lang="en-US" sz="2000" kern="1200" dirty="0">
            <a:latin typeface="Aptos Display" panose="02110004020202020204"/>
          </a:endParaRPr>
        </a:p>
      </dsp:txBody>
      <dsp:txXfrm>
        <a:off x="51147" y="2253612"/>
        <a:ext cx="3683322" cy="945461"/>
      </dsp:txXfrm>
    </dsp:sp>
    <dsp:sp modelId="{78CD11D8-DA74-4C05-8797-EEFF705A3503}">
      <dsp:nvSpPr>
        <dsp:cNvPr id="0" name=""/>
        <dsp:cNvSpPr/>
      </dsp:nvSpPr>
      <dsp:spPr>
        <a:xfrm rot="5400000">
          <a:off x="6731505" y="461495"/>
          <a:ext cx="838204" cy="6729984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dirty="0" err="1"/>
            <a:t>destination_port</a:t>
          </a:r>
          <a:r>
            <a:rPr lang="es-ES" sz="1500" kern="1200" dirty="0"/>
            <a:t>, </a:t>
          </a:r>
          <a:r>
            <a:rPr lang="es-ES" sz="1500" kern="1200" dirty="0" err="1"/>
            <a:t>source</a:t>
          </a:r>
          <a:r>
            <a:rPr lang="es-ES" sz="1500" kern="1200" dirty="0"/>
            <a:t> / </a:t>
          </a:r>
          <a:r>
            <a:rPr lang="es-ES" sz="1500" kern="1200" dirty="0" err="1"/>
            <a:t>destination_address</a:t>
          </a:r>
          <a:endParaRPr lang="en-US" sz="1500" kern="1200" dirty="0" err="1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dirty="0" err="1"/>
            <a:t>total_packets_from_sourceip</a:t>
          </a:r>
          <a:r>
            <a:rPr lang="es-ES" sz="1500" kern="1200" dirty="0"/>
            <a:t> / </a:t>
          </a:r>
          <a:r>
            <a:rPr lang="es-ES" sz="1500" kern="1200" dirty="0" err="1"/>
            <a:t>destip</a:t>
          </a:r>
          <a:endParaRPr lang="en-US" sz="1500" kern="1200" dirty="0" err="1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dirty="0" err="1"/>
            <a:t>num_incoming.connection_per_destip</a:t>
          </a:r>
          <a:r>
            <a:rPr lang="es-ES" sz="1500" kern="1200" dirty="0"/>
            <a:t> / </a:t>
          </a:r>
          <a:r>
            <a:rPr lang="es-ES" sz="1500" kern="1200" dirty="0" err="1"/>
            <a:t>sourceip</a:t>
          </a:r>
          <a:endParaRPr lang="en-US" sz="1500" kern="1200" dirty="0" err="1"/>
        </a:p>
      </dsp:txBody>
      <dsp:txXfrm rot="-5400000">
        <a:off x="3785615" y="3448303"/>
        <a:ext cx="6689066" cy="756368"/>
      </dsp:txXfrm>
    </dsp:sp>
    <dsp:sp modelId="{E6E70B7F-F5B5-46A0-82DD-13EB092717CC}">
      <dsp:nvSpPr>
        <dsp:cNvPr id="0" name=""/>
        <dsp:cNvSpPr/>
      </dsp:nvSpPr>
      <dsp:spPr>
        <a:xfrm>
          <a:off x="0" y="3302609"/>
          <a:ext cx="3785616" cy="104775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Variables principales :</a:t>
          </a:r>
          <a:endParaRPr lang="en-US" sz="2000" kern="1200" dirty="0"/>
        </a:p>
      </dsp:txBody>
      <dsp:txXfrm>
        <a:off x="51147" y="3353756"/>
        <a:ext cx="3683322" cy="9454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0A0639-E3A5-B176-A238-DD9EFF4121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6487" y="758024"/>
            <a:ext cx="9640779" cy="3239649"/>
          </a:xfrm>
        </p:spPr>
        <p:txBody>
          <a:bodyPr>
            <a:normAutofit/>
          </a:bodyPr>
          <a:lstStyle/>
          <a:p>
            <a:pPr algn="l"/>
            <a:r>
              <a:rPr lang="en-US" sz="4800" dirty="0" err="1">
                <a:solidFill>
                  <a:srgbClr val="FFFFFF"/>
                </a:solidFill>
              </a:rPr>
              <a:t>Ataque</a:t>
            </a:r>
            <a:r>
              <a:rPr lang="en-US" sz="4800" dirty="0">
                <a:solidFill>
                  <a:srgbClr val="FFFFFF"/>
                </a:solidFill>
              </a:rPr>
              <a:t> de </a:t>
            </a:r>
            <a:r>
              <a:rPr lang="en-US" sz="4800" dirty="0" err="1">
                <a:solidFill>
                  <a:srgbClr val="FFFFFF"/>
                </a:solidFill>
              </a:rPr>
              <a:t>Denegación</a:t>
            </a:r>
            <a:r>
              <a:rPr lang="en-US" sz="4800" dirty="0">
                <a:solidFill>
                  <a:srgbClr val="FFFFFF"/>
                </a:solidFill>
              </a:rPr>
              <a:t> de </a:t>
            </a:r>
            <a:r>
              <a:rPr lang="en-US" sz="4800" dirty="0" err="1">
                <a:solidFill>
                  <a:srgbClr val="FFFFFF"/>
                </a:solidFill>
              </a:rPr>
              <a:t>Servicios</a:t>
            </a:r>
            <a:r>
              <a:rPr lang="en-US" sz="4800" dirty="0">
                <a:solidFill>
                  <a:srgbClr val="FFFFFF"/>
                </a:solidFill>
              </a:rPr>
              <a:t> Distribuido (DDoS)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65A8F2-823A-5645-7177-49ED02130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02037" y="4493601"/>
            <a:ext cx="7055893" cy="107805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dirty="0" err="1">
                <a:solidFill>
                  <a:srgbClr val="FFFFFF"/>
                </a:solidFill>
              </a:rPr>
              <a:t>Patrones</a:t>
            </a:r>
            <a:r>
              <a:rPr lang="en-US" dirty="0">
                <a:solidFill>
                  <a:srgbClr val="FFFFFF"/>
                </a:solidFill>
              </a:rPr>
              <a:t> </a:t>
            </a:r>
            <a:r>
              <a:rPr lang="en-US" dirty="0" err="1">
                <a:solidFill>
                  <a:srgbClr val="FFFFFF"/>
                </a:solidFill>
              </a:rPr>
              <a:t>detectables</a:t>
            </a:r>
            <a:r>
              <a:rPr lang="en-US" dirty="0">
                <a:solidFill>
                  <a:srgbClr val="FFFFFF"/>
                </a:solidFill>
              </a:rPr>
              <a:t> y variables de </a:t>
            </a:r>
            <a:r>
              <a:rPr lang="en-US" dirty="0" err="1">
                <a:solidFill>
                  <a:srgbClr val="FFFFFF"/>
                </a:solidFill>
              </a:rPr>
              <a:t>interes</a:t>
            </a:r>
            <a:r>
              <a:rPr lang="en-US" dirty="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02127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E11141-30B6-427D-53BC-5F760B7F1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/>
              <a:t>Objetivo</a:t>
            </a:r>
            <a:r>
              <a:rPr lang="en-US" dirty="0"/>
              <a:t>.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98173893-D428-A01E-028C-931A053681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3071871"/>
              </p:ext>
            </p:extLst>
          </p:nvPr>
        </p:nvGraphicFramePr>
        <p:xfrm>
          <a:off x="996351" y="125053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9646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C45DF3-BC16-A732-261A-FC5EA0124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529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5200"/>
              <a:t>Contexto del Dataset.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46D5360F-73C0-F9CB-15FA-D34AD6F6BE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6063419"/>
              </p:ext>
            </p:extLst>
          </p:nvPr>
        </p:nvGraphicFramePr>
        <p:xfrm>
          <a:off x="363748" y="908650"/>
          <a:ext cx="11565145" cy="56608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73762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7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5C255-10FC-523B-D22E-BBA74A7C2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Metodologia de la investigacion: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409CA-DF53-A700-2CD6-7EDBD3113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200"/>
              <a:t>Extraccion: descarga del dataset desde una base publica.</a:t>
            </a:r>
          </a:p>
          <a:p>
            <a:r>
              <a:rPr lang="en-US" sz="2200"/>
              <a:t>Observacion: los datos son analizados para evaluar si el dataset cumple con requisitos minimos para su uso.</a:t>
            </a:r>
          </a:p>
          <a:p>
            <a:r>
              <a:rPr lang="en-US" sz="2200"/>
              <a:t>Limpieza: se procede a limpiar valores nulos, duplicados no utiles, rectificado y reasignacion de nombres.</a:t>
            </a:r>
          </a:p>
          <a:p>
            <a:r>
              <a:rPr lang="en-US" sz="2200"/>
              <a:t>Analisis: comparacion y ponderacion de categorias, busqueda de patrones reconocibles.</a:t>
            </a:r>
          </a:p>
          <a:p>
            <a:r>
              <a:rPr lang="en-US" sz="2200"/>
              <a:t>Visualizacion: Graficos representativos para la investigacion.</a:t>
            </a:r>
          </a:p>
          <a:p>
            <a:endParaRPr lang="en-US" sz="22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7402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F55745-2866-19CD-7A9E-DDFA15030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dirty="0" err="1"/>
              <a:t>Limpieza</a:t>
            </a:r>
            <a:r>
              <a:rPr lang="en-US" dirty="0"/>
              <a:t> y </a:t>
            </a:r>
            <a:r>
              <a:rPr lang="en-US" dirty="0" err="1"/>
              <a:t>tratamiento</a:t>
            </a:r>
            <a:r>
              <a:rPr lang="en-US" dirty="0"/>
              <a:t> de </a:t>
            </a:r>
            <a:r>
              <a:rPr lang="en-US" dirty="0" err="1"/>
              <a:t>valores</a:t>
            </a:r>
            <a:r>
              <a:rPr lang="en-US" dirty="0"/>
              <a:t>.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2047C-43B5-F472-4902-CD29B29D0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08" y="1135667"/>
            <a:ext cx="5898814" cy="4704468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2A94C-768D-874E-91FD-4F6EA8F58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err="1"/>
              <a:t>Dimensiones</a:t>
            </a:r>
            <a:r>
              <a:rPr lang="en-US" sz="2200"/>
              <a:t> (1.927.101, 47)</a:t>
            </a:r>
          </a:p>
          <a:p>
            <a:r>
              <a:rPr lang="en-US" sz="2200" err="1"/>
              <a:t>Duplicados</a:t>
            </a:r>
            <a:r>
              <a:rPr lang="en-US" sz="2200"/>
              <a:t> </a:t>
            </a:r>
            <a:r>
              <a:rPr lang="en-US" sz="2200" err="1"/>
              <a:t>enteros</a:t>
            </a:r>
            <a:r>
              <a:rPr lang="en-US" sz="2200"/>
              <a:t>: 0 (</a:t>
            </a:r>
            <a:r>
              <a:rPr lang="en-US" sz="2200" err="1"/>
              <a:t>cabe</a:t>
            </a:r>
            <a:r>
              <a:rPr lang="en-US" sz="2200"/>
              <a:t> </a:t>
            </a:r>
            <a:r>
              <a:rPr lang="en-US" sz="2200" err="1"/>
              <a:t>destacar</a:t>
            </a:r>
            <a:r>
              <a:rPr lang="en-US" sz="2200"/>
              <a:t> </a:t>
            </a:r>
            <a:r>
              <a:rPr lang="en-US" sz="2200" err="1"/>
              <a:t>que</a:t>
            </a:r>
            <a:r>
              <a:rPr lang="en-US" sz="2200"/>
              <a:t> </a:t>
            </a:r>
            <a:r>
              <a:rPr lang="en-US" sz="2200" err="1"/>
              <a:t>valores</a:t>
            </a:r>
            <a:r>
              <a:rPr lang="en-US" sz="2200"/>
              <a:t> </a:t>
            </a:r>
            <a:r>
              <a:rPr lang="en-US" sz="2200" err="1"/>
              <a:t>como</a:t>
            </a:r>
            <a:r>
              <a:rPr lang="en-US" sz="2200"/>
              <a:t> </a:t>
            </a:r>
            <a:r>
              <a:rPr lang="en-US" sz="2200" err="1"/>
              <a:t>los</a:t>
            </a:r>
            <a:r>
              <a:rPr lang="en-US" sz="2200"/>
              <a:t> </a:t>
            </a:r>
            <a:r>
              <a:rPr lang="en-US" sz="2200" err="1"/>
              <a:t>puertos</a:t>
            </a:r>
            <a:r>
              <a:rPr lang="en-US" sz="2200"/>
              <a:t> </a:t>
            </a:r>
            <a:r>
              <a:rPr lang="en-US" sz="2200" err="1"/>
              <a:t>pueden</a:t>
            </a:r>
            <a:r>
              <a:rPr lang="en-US" sz="2200"/>
              <a:t> </a:t>
            </a:r>
            <a:r>
              <a:rPr lang="en-US" sz="2200" err="1"/>
              <a:t>repetirse</a:t>
            </a:r>
            <a:r>
              <a:rPr lang="en-US" sz="2200"/>
              <a:t>).</a:t>
            </a:r>
          </a:p>
          <a:p>
            <a:r>
              <a:rPr lang="en-US" sz="2200" err="1"/>
              <a:t>Nulos</a:t>
            </a:r>
            <a:r>
              <a:rPr lang="en-US" sz="2200"/>
              <a:t>: 0</a:t>
            </a:r>
          </a:p>
          <a:p>
            <a:r>
              <a:rPr lang="en-US" sz="2200"/>
              <a:t>Tipo de </a:t>
            </a:r>
            <a:r>
              <a:rPr lang="en-US" sz="2200" err="1"/>
              <a:t>datos</a:t>
            </a:r>
            <a:r>
              <a:rPr lang="en-US" sz="2200"/>
              <a:t> </a:t>
            </a:r>
            <a:r>
              <a:rPr lang="en-US" sz="2200" err="1"/>
              <a:t>incorrectos</a:t>
            </a:r>
            <a:r>
              <a:rPr lang="en-US" sz="2200"/>
              <a:t>: </a:t>
            </a:r>
            <a:r>
              <a:rPr lang="en-US" sz="2200" err="1"/>
              <a:t>stime</a:t>
            </a:r>
            <a:r>
              <a:rPr lang="en-US" sz="2200"/>
              <a:t> (</a:t>
            </a:r>
            <a:r>
              <a:rPr lang="en-US" sz="2200" err="1"/>
              <a:t>actualmente</a:t>
            </a:r>
            <a:r>
              <a:rPr lang="en-US" sz="2200"/>
              <a:t> </a:t>
            </a:r>
            <a:r>
              <a:rPr lang="en-US" sz="2200" err="1"/>
              <a:t>star_time</a:t>
            </a:r>
            <a:r>
              <a:rPr lang="en-US" sz="2200"/>
              <a:t>) </a:t>
            </a:r>
            <a:r>
              <a:rPr lang="en-US" sz="2200" err="1"/>
              <a:t>Poseia</a:t>
            </a:r>
            <a:r>
              <a:rPr lang="en-US" sz="2200"/>
              <a:t> un error </a:t>
            </a:r>
            <a:r>
              <a:rPr lang="en-US" sz="2200" err="1"/>
              <a:t>que</a:t>
            </a:r>
            <a:r>
              <a:rPr lang="en-US" sz="2200"/>
              <a:t> </a:t>
            </a:r>
            <a:r>
              <a:rPr lang="en-US" sz="2200" err="1"/>
              <a:t>situaba</a:t>
            </a:r>
            <a:r>
              <a:rPr lang="en-US" sz="2200"/>
              <a:t> el </a:t>
            </a:r>
            <a:r>
              <a:rPr lang="en-US" sz="2200" err="1"/>
              <a:t>tiempo</a:t>
            </a:r>
            <a:r>
              <a:rPr lang="en-US" sz="2200"/>
              <a:t> de </a:t>
            </a:r>
            <a:r>
              <a:rPr lang="en-US" sz="2200" err="1"/>
              <a:t>inicio</a:t>
            </a:r>
            <a:r>
              <a:rPr lang="en-US" sz="2200"/>
              <a:t> a 1970 </a:t>
            </a:r>
            <a:r>
              <a:rPr lang="en-US" sz="2200" err="1"/>
              <a:t>producto</a:t>
            </a:r>
            <a:r>
              <a:rPr lang="en-US" sz="2200"/>
              <a:t> de </a:t>
            </a:r>
            <a:r>
              <a:rPr lang="en-US" sz="2200" err="1"/>
              <a:t>una</a:t>
            </a:r>
            <a:r>
              <a:rPr lang="en-US" sz="2200"/>
              <a:t> mala conversion, </a:t>
            </a:r>
            <a:r>
              <a:rPr lang="en-US" sz="2200" err="1"/>
              <a:t>ahora</a:t>
            </a:r>
            <a:r>
              <a:rPr lang="en-US" sz="2200"/>
              <a:t> se </a:t>
            </a:r>
            <a:r>
              <a:rPr lang="en-US" sz="2200" err="1"/>
              <a:t>muestra</a:t>
            </a:r>
            <a:r>
              <a:rPr lang="en-US" sz="2200"/>
              <a:t> </a:t>
            </a:r>
            <a:r>
              <a:rPr lang="en-US" sz="2200" err="1"/>
              <a:t>correctamente</a:t>
            </a:r>
            <a:r>
              <a:rPr lang="en-US" sz="2200"/>
              <a:t> </a:t>
            </a:r>
            <a:r>
              <a:rPr lang="en-US" sz="2200" err="1"/>
              <a:t>en</a:t>
            </a:r>
            <a:r>
              <a:rPr lang="en-US" sz="2200"/>
              <a:t> 2018.</a:t>
            </a:r>
          </a:p>
          <a:p>
            <a:r>
              <a:rPr lang="en-US" sz="2200"/>
              <a:t>Columnas </a:t>
            </a:r>
            <a:r>
              <a:rPr lang="en-US" sz="2200" err="1"/>
              <a:t>agregadas</a:t>
            </a:r>
            <a:r>
              <a:rPr lang="en-US" sz="2200"/>
              <a:t>: Count.</a:t>
            </a:r>
          </a:p>
          <a:p>
            <a:pPr marL="0" indent="0">
              <a:buNone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701278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113B4A-6301-6FA7-A4E6-C6CD45804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¿Como se produce un ataque?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D1C33-8F42-9091-90B5-9D00E388B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2686843"/>
            <a:ext cx="9941319" cy="3455337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514350" indent="-514350">
              <a:buAutoNum type="arabicParenR"/>
            </a:pPr>
            <a:r>
              <a:rPr lang="en-US" sz="2000" dirty="0"/>
              <a:t>Botnets: El </a:t>
            </a:r>
            <a:r>
              <a:rPr lang="en-US" sz="2000" dirty="0" err="1"/>
              <a:t>atacante</a:t>
            </a:r>
            <a:r>
              <a:rPr lang="en-US" sz="2000" dirty="0"/>
              <a:t> </a:t>
            </a:r>
            <a:r>
              <a:rPr lang="en-US" sz="2000" dirty="0" err="1"/>
              <a:t>usa</a:t>
            </a:r>
            <a:r>
              <a:rPr lang="en-US" sz="2000" dirty="0"/>
              <a:t> </a:t>
            </a:r>
            <a:r>
              <a:rPr lang="en-US" sz="2000" dirty="0" err="1"/>
              <a:t>otros</a:t>
            </a:r>
            <a:r>
              <a:rPr lang="en-US" sz="2000" dirty="0"/>
              <a:t> </a:t>
            </a:r>
            <a:r>
              <a:rPr lang="en-US" sz="2000" dirty="0" err="1"/>
              <a:t>equipos</a:t>
            </a:r>
            <a:r>
              <a:rPr lang="en-US" sz="2000" dirty="0"/>
              <a:t> para </a:t>
            </a:r>
            <a:r>
              <a:rPr lang="en-US" sz="2000" dirty="0" err="1"/>
              <a:t>maximizar</a:t>
            </a:r>
            <a:r>
              <a:rPr lang="en-US" sz="2000" dirty="0"/>
              <a:t> el </a:t>
            </a:r>
            <a:r>
              <a:rPr lang="en-US" sz="2000" dirty="0" err="1"/>
              <a:t>alcance</a:t>
            </a:r>
            <a:r>
              <a:rPr lang="en-US" sz="2000" dirty="0"/>
              <a:t> de </a:t>
            </a:r>
            <a:r>
              <a:rPr lang="en-US" sz="2000" dirty="0" err="1"/>
              <a:t>su</a:t>
            </a:r>
            <a:r>
              <a:rPr lang="en-US" sz="2000" dirty="0"/>
              <a:t> </a:t>
            </a:r>
            <a:r>
              <a:rPr lang="en-US" sz="2000" dirty="0" err="1"/>
              <a:t>ataque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dirty="0" err="1"/>
              <a:t>Ej</a:t>
            </a:r>
            <a:r>
              <a:rPr lang="en-US" sz="2000" dirty="0"/>
              <a:t>: 192.168.100.n </a:t>
            </a:r>
            <a:r>
              <a:rPr lang="en-US" sz="2000" dirty="0" err="1"/>
              <a:t>infecta</a:t>
            </a:r>
            <a:r>
              <a:rPr lang="en-US" sz="2000" dirty="0"/>
              <a:t> </a:t>
            </a:r>
            <a:r>
              <a:rPr lang="en-US" sz="2000" dirty="0" err="1"/>
              <a:t>varios</a:t>
            </a:r>
            <a:r>
              <a:rPr lang="en-US" sz="2000" dirty="0"/>
              <a:t> </a:t>
            </a:r>
            <a:r>
              <a:rPr lang="en-US" sz="2000" dirty="0" err="1"/>
              <a:t>dispositivos</a:t>
            </a:r>
            <a:r>
              <a:rPr lang="en-US" sz="2000" dirty="0"/>
              <a:t> IoT para </a:t>
            </a:r>
            <a:r>
              <a:rPr lang="en-US" sz="2000" dirty="0" err="1"/>
              <a:t>enviarle</a:t>
            </a:r>
            <a:r>
              <a:rPr lang="en-US" sz="2000" dirty="0"/>
              <a:t> multiples </a:t>
            </a:r>
            <a:r>
              <a:rPr lang="en-US" sz="2000" dirty="0" err="1"/>
              <a:t>plaquetes</a:t>
            </a:r>
            <a:r>
              <a:rPr lang="en-US" sz="2000" dirty="0"/>
              <a:t> a la IP 192.168.100.3</a:t>
            </a:r>
          </a:p>
          <a:p>
            <a:pPr marL="514350" indent="-514350">
              <a:buAutoNum type="arabicParenR"/>
            </a:pPr>
            <a:r>
              <a:rPr lang="en-US" sz="2000" dirty="0"/>
              <a:t>El </a:t>
            </a:r>
            <a:r>
              <a:rPr lang="en-US" sz="2000" dirty="0" err="1"/>
              <a:t>asedio</a:t>
            </a:r>
            <a:r>
              <a:rPr lang="en-US" sz="2000" dirty="0"/>
              <a:t> dura el </a:t>
            </a:r>
            <a:r>
              <a:rPr lang="en-US" sz="2000" dirty="0" err="1"/>
              <a:t>suficiente</a:t>
            </a:r>
            <a:r>
              <a:rPr lang="en-US" sz="2000" dirty="0"/>
              <a:t> </a:t>
            </a:r>
            <a:r>
              <a:rPr lang="en-US" sz="2000" dirty="0" err="1"/>
              <a:t>tiempo</a:t>
            </a:r>
            <a:r>
              <a:rPr lang="en-US" sz="2000" dirty="0"/>
              <a:t> para </a:t>
            </a:r>
            <a:r>
              <a:rPr lang="en-US" sz="2000" dirty="0" err="1"/>
              <a:t>inhabilitar</a:t>
            </a:r>
            <a:r>
              <a:rPr lang="en-US" sz="2000" dirty="0"/>
              <a:t> el </a:t>
            </a:r>
            <a:r>
              <a:rPr lang="en-US" sz="2000" dirty="0" err="1"/>
              <a:t>equipo</a:t>
            </a:r>
            <a:r>
              <a:rPr lang="en-US" sz="2000" dirty="0"/>
              <a:t> </a:t>
            </a:r>
            <a:r>
              <a:rPr lang="en-US" sz="2000" dirty="0" err="1"/>
              <a:t>objetivo</a:t>
            </a:r>
            <a:r>
              <a:rPr lang="en-US" sz="2000" dirty="0"/>
              <a:t>.</a:t>
            </a:r>
            <a:endParaRPr lang="en-US"/>
          </a:p>
          <a:p>
            <a:pPr marL="514350" indent="-514350">
              <a:buAutoNum type="arabicParenR"/>
            </a:pPr>
            <a:r>
              <a:rPr lang="en-US" sz="2000" dirty="0" err="1"/>
              <a:t>Usualmente</a:t>
            </a:r>
            <a:r>
              <a:rPr lang="en-US" sz="2000" dirty="0"/>
              <a:t>, la </a:t>
            </a:r>
            <a:r>
              <a:rPr lang="en-US" sz="2000" dirty="0" err="1"/>
              <a:t>inhabilitacion</a:t>
            </a:r>
            <a:r>
              <a:rPr lang="en-US" sz="2000" dirty="0"/>
              <a:t> es el fin ultimo, </a:t>
            </a:r>
            <a:r>
              <a:rPr lang="en-US" sz="2000" dirty="0" err="1"/>
              <a:t>pero</a:t>
            </a:r>
            <a:r>
              <a:rPr lang="en-US" sz="2000" dirty="0"/>
              <a:t> a </a:t>
            </a:r>
            <a:r>
              <a:rPr lang="en-US" sz="2000" dirty="0" err="1"/>
              <a:t>veces</a:t>
            </a:r>
            <a:r>
              <a:rPr lang="en-US" sz="2000" dirty="0"/>
              <a:t> solo es el principio para </a:t>
            </a:r>
            <a:r>
              <a:rPr lang="en-US" sz="2000" dirty="0" err="1"/>
              <a:t>otro</a:t>
            </a:r>
            <a:r>
              <a:rPr lang="en-US" sz="2000" dirty="0"/>
              <a:t> </a:t>
            </a:r>
            <a:r>
              <a:rPr lang="en-US" sz="2000" dirty="0" err="1"/>
              <a:t>tipo</a:t>
            </a:r>
            <a:r>
              <a:rPr lang="en-US" sz="2000" dirty="0"/>
              <a:t> de </a:t>
            </a:r>
            <a:r>
              <a:rPr lang="en-US" sz="2000" dirty="0" err="1"/>
              <a:t>ataque</a:t>
            </a:r>
            <a:r>
              <a:rPr lang="en-US" sz="2000" dirty="0"/>
              <a:t>:</a:t>
            </a:r>
          </a:p>
          <a:p>
            <a:pPr marL="2343150" lvl="4" indent="-514350">
              <a:buFont typeface="Courier New" panose="020B0604020202020204" pitchFamily="34" charset="0"/>
              <a:buChar char="o"/>
            </a:pPr>
            <a:r>
              <a:rPr lang="en-US" sz="2000" dirty="0" err="1"/>
              <a:t>Envenamiento</a:t>
            </a:r>
            <a:r>
              <a:rPr lang="en-US" sz="2000" dirty="0"/>
              <a:t> ARP</a:t>
            </a:r>
          </a:p>
          <a:p>
            <a:pPr marL="2343150" lvl="4" indent="-514350">
              <a:buFont typeface="Courier New" panose="020B0604020202020204" pitchFamily="34" charset="0"/>
              <a:buChar char="o"/>
            </a:pPr>
            <a:r>
              <a:rPr lang="en-US" sz="2000" dirty="0"/>
              <a:t>Cortina de Humo.</a:t>
            </a:r>
          </a:p>
          <a:p>
            <a:pPr marL="2343150" lvl="4" indent="-514350">
              <a:buFont typeface="Courier New" panose="020B0604020202020204" pitchFamily="34" charset="0"/>
              <a:buChar char="o"/>
            </a:pPr>
            <a:r>
              <a:rPr lang="en-US" sz="2000" dirty="0"/>
              <a:t>Robo de Datos</a:t>
            </a:r>
          </a:p>
          <a:p>
            <a:pPr marL="2343150" lvl="4" indent="-514350">
              <a:buFont typeface="Courier New" panose="020B0604020202020204" pitchFamily="34" charset="0"/>
              <a:buChar char="o"/>
            </a:pPr>
            <a:r>
              <a:rPr lang="en-US" sz="2000" dirty="0" err="1"/>
              <a:t>Inyeccion</a:t>
            </a:r>
            <a:r>
              <a:rPr lang="en-US" sz="2000" dirty="0"/>
              <a:t> de Malware.</a:t>
            </a:r>
          </a:p>
          <a:p>
            <a:pPr marL="514350" indent="-514350">
              <a:buAutoNum type="arabicParenR"/>
            </a:pPr>
            <a:endParaRPr lang="en-US" sz="200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6981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38B4F-9A35-9B89-468A-B0F69C9EF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1C8F2E7B-9B2D-B393-E522-0A2FC61A3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CE1DE7-3618-C63F-32ED-6C1C6C06E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8000" kern="1200" dirty="0">
                <a:latin typeface="+mj-lt"/>
                <a:ea typeface="+mj-ea"/>
                <a:cs typeface="+mj-cs"/>
              </a:rPr>
              <a:t>Patron n</a:t>
            </a:r>
            <a:r>
              <a:rPr lang="en-US" sz="8000" dirty="0"/>
              <a:t>°1,</a:t>
            </a:r>
            <a:r>
              <a:rPr lang="en-US" sz="80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8000" dirty="0" err="1"/>
              <a:t>desbalance</a:t>
            </a:r>
            <a:r>
              <a:rPr lang="en-US" sz="8000" dirty="0"/>
              <a:t> </a:t>
            </a:r>
            <a:r>
              <a:rPr lang="en-US" sz="8000" dirty="0" err="1"/>
              <a:t>en</a:t>
            </a:r>
            <a:r>
              <a:rPr lang="en-US" sz="8000" dirty="0"/>
              <a:t> </a:t>
            </a:r>
            <a:r>
              <a:rPr lang="en-US" sz="8000" dirty="0" err="1"/>
              <a:t>taza</a:t>
            </a:r>
            <a:r>
              <a:rPr lang="en-US" sz="8000" dirty="0"/>
              <a:t> de </a:t>
            </a:r>
            <a:r>
              <a:rPr lang="en-US" sz="8000" dirty="0" err="1"/>
              <a:t>paquetes</a:t>
            </a:r>
            <a:r>
              <a:rPr lang="en-US" sz="8000" dirty="0"/>
              <a:t> </a:t>
            </a:r>
            <a:r>
              <a:rPr lang="en-US" sz="8000" dirty="0" err="1"/>
              <a:t>por</a:t>
            </a:r>
            <a:r>
              <a:rPr lang="en-US" sz="8000" dirty="0"/>
              <a:t> </a:t>
            </a:r>
            <a:r>
              <a:rPr lang="en-US" sz="8000" dirty="0" err="1"/>
              <a:t>puerto</a:t>
            </a:r>
            <a:r>
              <a:rPr lang="en-US" sz="8000" dirty="0"/>
              <a:t>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8F70F3-EEE2-5C3B-40D9-E46BA9D6C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0924" y="4619624"/>
            <a:ext cx="3946779" cy="1038225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 algn="r">
              <a:buNone/>
            </a:pPr>
            <a:r>
              <a:rPr lang="en-US" sz="2400" dirty="0" err="1"/>
              <a:t>Hipotesis</a:t>
            </a:r>
            <a:r>
              <a:rPr lang="en-US" sz="2400" dirty="0"/>
              <a:t>: Un solo </a:t>
            </a:r>
            <a:r>
              <a:rPr lang="en-US" sz="2400" dirty="0" err="1"/>
              <a:t>puerto</a:t>
            </a:r>
            <a:r>
              <a:rPr lang="en-US" sz="2400" dirty="0"/>
              <a:t>, </a:t>
            </a:r>
            <a:r>
              <a:rPr lang="en-US" sz="2400" dirty="0" err="1"/>
              <a:t>victima</a:t>
            </a:r>
            <a:r>
              <a:rPr lang="en-US" sz="2400" dirty="0"/>
              <a:t> del </a:t>
            </a:r>
            <a:r>
              <a:rPr lang="en-US" sz="2400" dirty="0" err="1"/>
              <a:t>ataque</a:t>
            </a:r>
            <a:r>
              <a:rPr lang="en-US" sz="2400" dirty="0"/>
              <a:t>, es </a:t>
            </a:r>
            <a:r>
              <a:rPr lang="en-US" sz="2400" dirty="0" err="1"/>
              <a:t>quien</a:t>
            </a:r>
            <a:r>
              <a:rPr lang="en-US" sz="2400" dirty="0"/>
              <a:t> </a:t>
            </a:r>
            <a:r>
              <a:rPr lang="en-US" sz="2400" dirty="0" err="1"/>
              <a:t>recibe</a:t>
            </a:r>
            <a:r>
              <a:rPr lang="en-US" sz="2400" dirty="0"/>
              <a:t> la mayor </a:t>
            </a:r>
            <a:r>
              <a:rPr lang="en-US" sz="2400" dirty="0" err="1"/>
              <a:t>cantidad</a:t>
            </a:r>
            <a:r>
              <a:rPr lang="en-US" sz="2400" dirty="0"/>
              <a:t> de </a:t>
            </a:r>
            <a:r>
              <a:rPr lang="en-US" sz="2400" dirty="0" err="1"/>
              <a:t>paquetes</a:t>
            </a:r>
            <a:r>
              <a:rPr lang="en-US" sz="2400" dirty="0"/>
              <a:t> </a:t>
            </a:r>
            <a:r>
              <a:rPr lang="en-US" sz="2400" dirty="0" err="1"/>
              <a:t>entrantes</a:t>
            </a:r>
            <a:r>
              <a:rPr lang="en-US" sz="2400" dirty="0"/>
              <a:t>..</a:t>
            </a:r>
            <a:endParaRPr lang="en-US" sz="2400" kern="1200" dirty="0">
              <a:latin typeface="+mn-lt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E3C5E2-DAA8-8B25-2C8B-9A93D5877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88E7AA4-0B74-9E91-C3C1-B8A4866059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7933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92468898-5A6E-4D55-85EC-308E785EE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845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2E4D328-4429-ED3E-1CC3-4DA0D93C96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553" y="-5193"/>
            <a:ext cx="7550815" cy="6858609"/>
          </a:xfrm>
          <a:prstGeom prst="rect">
            <a:avLst/>
          </a:prstGeom>
        </p:spPr>
      </p:pic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3801B8-22E9-3A8B-2487-8F79C95F01C7}"/>
              </a:ext>
            </a:extLst>
          </p:cNvPr>
          <p:cNvSpPr txBox="1"/>
          <p:nvPr/>
        </p:nvSpPr>
        <p:spPr>
          <a:xfrm>
            <a:off x="7684752" y="1520109"/>
            <a:ext cx="3943927" cy="445508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80: puerto HTTP sin cifrar.</a:t>
            </a:r>
            <a:br>
              <a:rPr lang="en-US" dirty="0"/>
            </a:br>
            <a:r>
              <a:rPr lang="en-US" dirty="0"/>
              <a:t>53: Puerto estandar del protoclo DNS</a:t>
            </a:r>
            <a:endParaRPr lang="en-US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-1: Protocolo no identificado</a:t>
            </a:r>
            <a:endParaRPr lang="en-US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5353: protocolo mDNS (Multicast DNS o DNS Multicast) delata algo curioso.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123: Network Time Protocol (</a:t>
            </a:r>
            <a:r>
              <a:rPr lang="en-US" dirty="0" err="1"/>
              <a:t>sincronica</a:t>
            </a:r>
            <a:r>
              <a:rPr lang="en-US" dirty="0"/>
              <a:t> </a:t>
            </a:r>
            <a:r>
              <a:rPr lang="en-US" dirty="0" err="1"/>
              <a:t>fecha</a:t>
            </a:r>
            <a:r>
              <a:rPr lang="en-US" dirty="0"/>
              <a:t> y hora entre </a:t>
            </a:r>
            <a:r>
              <a:rPr lang="en-US" dirty="0" err="1"/>
              <a:t>dispositivos</a:t>
            </a:r>
            <a:r>
              <a:rPr lang="en-US" dirty="0"/>
              <a:t>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0x5000: No </a:t>
            </a:r>
            <a:r>
              <a:rPr lang="en-US" dirty="0" err="1"/>
              <a:t>tiene</a:t>
            </a:r>
            <a:r>
              <a:rPr lang="en-US" dirty="0"/>
              <a:t> un </a:t>
            </a:r>
            <a:r>
              <a:rPr lang="en-US" dirty="0" err="1"/>
              <a:t>uso</a:t>
            </a:r>
            <a:r>
              <a:rPr lang="en-US" dirty="0"/>
              <a:t> </a:t>
            </a:r>
            <a:r>
              <a:rPr lang="en-US" dirty="0" err="1"/>
              <a:t>fijo</a:t>
            </a:r>
            <a:r>
              <a:rPr lang="en-US" dirty="0"/>
              <a:t>, </a:t>
            </a:r>
            <a:r>
              <a:rPr lang="en-US" dirty="0" err="1"/>
              <a:t>pero</a:t>
            </a:r>
            <a:r>
              <a:rPr lang="en-US" dirty="0"/>
              <a:t> a </a:t>
            </a:r>
            <a:r>
              <a:rPr lang="en-US" dirty="0" err="1"/>
              <a:t>veces</a:t>
            </a:r>
            <a:r>
              <a:rPr lang="en-US" dirty="0"/>
              <a:t> se </a:t>
            </a:r>
            <a:r>
              <a:rPr lang="en-US" dirty="0" err="1"/>
              <a:t>usa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base de </a:t>
            </a:r>
            <a:r>
              <a:rPr lang="en-US" dirty="0" err="1"/>
              <a:t>datos</a:t>
            </a:r>
            <a:r>
              <a:rPr lang="en-US" dirty="0"/>
              <a:t> NoSQL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443: </a:t>
            </a:r>
            <a:r>
              <a:rPr lang="en-US" dirty="0" err="1"/>
              <a:t>puerto</a:t>
            </a:r>
            <a:r>
              <a:rPr lang="en-US" dirty="0"/>
              <a:t> </a:t>
            </a:r>
            <a:r>
              <a:rPr lang="en-US" dirty="0" err="1"/>
              <a:t>estandar</a:t>
            </a:r>
            <a:r>
              <a:rPr lang="en-US" dirty="0"/>
              <a:t> para HTTPS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138: Puerto UDP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463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8E66E6-2BE1-0B1B-1FC1-4C62F5141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Ranking IP's atacantes: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E77A87-9518-A06C-1DEA-FE7E70A9D0C2}"/>
              </a:ext>
            </a:extLst>
          </p:cNvPr>
          <p:cNvSpPr txBox="1"/>
          <p:nvPr/>
        </p:nvSpPr>
        <p:spPr>
          <a:xfrm>
            <a:off x="801754" y="2198362"/>
            <a:ext cx="5294246" cy="403969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Observaciones: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Las IP's atacantes pertenecen todas a la misma subred.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Suma de todos los paquetes 1.923.162, superior a los registros, lo que indica que un solo registro puede contener mas de un ataque.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Los ultimos 5 registros corresponden a trafico normal de red.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88D514A-DEBB-41F9-3C9E-14F5A2CC11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45047" y="2199600"/>
            <a:ext cx="5042505" cy="3076303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148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1C6ED8-BC5D-8DA8-D14E-DB497292D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Patron n°2, desbalance de conexiones.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D12342-7F0D-F89C-FC25-99985A48D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0924" y="4619624"/>
            <a:ext cx="3946779" cy="10382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400" dirty="0" err="1"/>
              <a:t>Hipotesis</a:t>
            </a:r>
            <a:r>
              <a:rPr lang="en-US" sz="2400" dirty="0"/>
              <a:t>: </a:t>
            </a:r>
            <a:r>
              <a:rPr lang="en-US" sz="2400" dirty="0" err="1"/>
              <a:t>diferentes</a:t>
            </a:r>
            <a:r>
              <a:rPr lang="en-US" sz="2400" kern="1200" dirty="0">
                <a:latin typeface="+mn-lt"/>
                <a:ea typeface="+mn-ea"/>
                <a:cs typeface="+mn-cs"/>
              </a:rPr>
              <a:t> IP's </a:t>
            </a:r>
            <a:r>
              <a:rPr lang="en-US" sz="2400" kern="1200" dirty="0" err="1">
                <a:latin typeface="+mn-lt"/>
                <a:ea typeface="+mn-ea"/>
                <a:cs typeface="+mn-cs"/>
              </a:rPr>
              <a:t>actuan</a:t>
            </a:r>
            <a:r>
              <a:rPr lang="en-US" sz="2400" kern="1200" dirty="0">
                <a:latin typeface="+mn-lt"/>
                <a:ea typeface="+mn-ea"/>
                <a:cs typeface="+mn-cs"/>
              </a:rPr>
              <a:t> con </a:t>
            </a:r>
            <a:r>
              <a:rPr lang="en-US" sz="2400" kern="1200" dirty="0" err="1">
                <a:latin typeface="+mn-lt"/>
                <a:ea typeface="+mn-ea"/>
                <a:cs typeface="+mn-cs"/>
              </a:rPr>
              <a:t>intensidades</a:t>
            </a:r>
            <a:r>
              <a:rPr lang="en-US" sz="2400" kern="1200" dirty="0"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latin typeface="+mn-lt"/>
                <a:ea typeface="+mn-ea"/>
                <a:cs typeface="+mn-cs"/>
              </a:rPr>
              <a:t>similares</a:t>
            </a:r>
            <a:r>
              <a:rPr lang="en-US" sz="2400" kern="1200" dirty="0"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6473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73470-7FA3-19F3-9BD1-E982C1501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400" dirty="0" err="1"/>
              <a:t>Desbalance</a:t>
            </a:r>
            <a:r>
              <a:rPr lang="en-US" sz="3400" dirty="0"/>
              <a:t> </a:t>
            </a:r>
            <a:r>
              <a:rPr lang="en-US" sz="3400" dirty="0" err="1"/>
              <a:t>en</a:t>
            </a:r>
            <a:r>
              <a:rPr lang="en-US" sz="3400" dirty="0"/>
              <a:t> </a:t>
            </a:r>
            <a:r>
              <a:rPr lang="en-US" sz="3400" dirty="0" err="1"/>
              <a:t>conexiones</a:t>
            </a:r>
            <a:r>
              <a:rPr lang="en-US" sz="3400" dirty="0"/>
              <a:t>: IP Origen vs Destino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E573E-3BFF-23D4-F9CB-F0BBBD766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163" y="2720944"/>
            <a:ext cx="3572773" cy="3885164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2200" dirty="0"/>
              <a:t>Cuando dos IP's se intentan comunicar en el flujo normal, ambas emiten la misma cantidad de conexiones para poder entablar una conversacion. El mas famoso es el Handshake.</a:t>
            </a:r>
          </a:p>
          <a:p>
            <a:r>
              <a:rPr lang="en-US" sz="2200" dirty="0"/>
              <a:t>En un </a:t>
            </a:r>
            <a:r>
              <a:rPr lang="en-US" sz="2200" dirty="0" err="1"/>
              <a:t>ataque</a:t>
            </a:r>
            <a:r>
              <a:rPr lang="en-US" sz="2200" dirty="0"/>
              <a:t> DDoS, </a:t>
            </a:r>
            <a:r>
              <a:rPr lang="en-US" sz="2200" dirty="0" err="1"/>
              <a:t>estas</a:t>
            </a:r>
            <a:r>
              <a:rPr lang="en-US" sz="2200" dirty="0"/>
              <a:t> </a:t>
            </a:r>
            <a:r>
              <a:rPr lang="en-US" sz="2200" dirty="0" err="1"/>
              <a:t>conexiones</a:t>
            </a:r>
            <a:r>
              <a:rPr lang="en-US" sz="2200" dirty="0"/>
              <a:t> </a:t>
            </a:r>
            <a:r>
              <a:rPr lang="en-US" sz="2200" dirty="0" err="1"/>
              <a:t>quedan</a:t>
            </a:r>
            <a:r>
              <a:rPr lang="en-US" sz="2200" dirty="0"/>
              <a:t> </a:t>
            </a:r>
            <a:r>
              <a:rPr lang="en-US" sz="2200" dirty="0" err="1"/>
              <a:t>en</a:t>
            </a:r>
            <a:r>
              <a:rPr lang="en-US" sz="2200" dirty="0"/>
              <a:t> el aire, y antes de poder entablar una, otras nuevas saturan al objetivo. </a:t>
            </a:r>
            <a:r>
              <a:rPr lang="en-US" sz="2200" dirty="0">
                <a:ea typeface="+mn-lt"/>
                <a:cs typeface="+mn-lt"/>
              </a:rPr>
              <a:t>ataque Flood SYN</a:t>
            </a: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3D1711-F9E6-70D3-2D76-3FADB6068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447" y="647680"/>
            <a:ext cx="7507569" cy="595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566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0EF319-FF33-8ADB-E133-7F3ED7D0C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100" kern="1200" dirty="0" err="1">
                <a:latin typeface="+mj-lt"/>
                <a:ea typeface="+mj-ea"/>
                <a:cs typeface="+mj-cs"/>
              </a:rPr>
              <a:t>Saturacion</a:t>
            </a:r>
            <a:r>
              <a:rPr lang="en-US" sz="3100" kern="1200" dirty="0">
                <a:latin typeface="+mj-lt"/>
                <a:ea typeface="+mj-ea"/>
                <a:cs typeface="+mj-cs"/>
              </a:rPr>
              <a:t> del </a:t>
            </a:r>
            <a:r>
              <a:rPr lang="en-US" sz="3100" kern="1200" dirty="0" err="1">
                <a:latin typeface="+mj-lt"/>
                <a:ea typeface="+mj-ea"/>
                <a:cs typeface="+mj-cs"/>
              </a:rPr>
              <a:t>contador</a:t>
            </a:r>
            <a:r>
              <a:rPr lang="en-US" sz="3100" kern="1200" dirty="0">
                <a:latin typeface="+mj-lt"/>
                <a:ea typeface="+mj-ea"/>
                <a:cs typeface="+mj-cs"/>
              </a:rPr>
              <a:t> de </a:t>
            </a:r>
            <a:r>
              <a:rPr lang="en-US" sz="3100" kern="1200" dirty="0" err="1">
                <a:latin typeface="+mj-lt"/>
                <a:ea typeface="+mj-ea"/>
                <a:cs typeface="+mj-cs"/>
              </a:rPr>
              <a:t>conexiones</a:t>
            </a:r>
            <a:r>
              <a:rPr lang="en-US" sz="31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3100" kern="1200" dirty="0" err="1">
                <a:latin typeface="+mj-lt"/>
                <a:ea typeface="+mj-ea"/>
                <a:cs typeface="+mj-cs"/>
              </a:rPr>
              <a:t>entrantes</a:t>
            </a:r>
            <a:r>
              <a:rPr lang="en-US" sz="3100" dirty="0"/>
              <a:t>.</a:t>
            </a:r>
            <a:endParaRPr lang="en-US" sz="3100" kern="1200" dirty="0">
              <a:latin typeface="+mj-lt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F41ED38-FFEE-D810-FDAA-B048F870C9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5034" y="17891"/>
            <a:ext cx="6144816" cy="5956745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A8A8E25C-0311-D841-DC22-65A4EC648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12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n-US" sz="2000" dirty="0"/>
              <a:t>Variable </a:t>
            </a:r>
            <a:r>
              <a:rPr lang="en-US" sz="2000" dirty="0" err="1"/>
              <a:t>analizada</a:t>
            </a:r>
            <a:r>
              <a:rPr lang="en-US" sz="2000" dirty="0"/>
              <a:t>: </a:t>
            </a:r>
            <a:r>
              <a:rPr lang="en-US" sz="2000" dirty="0" err="1"/>
              <a:t>num_incoming.connection_per_destip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Contador de </a:t>
            </a:r>
            <a:r>
              <a:rPr lang="en-US" sz="2000" dirty="0" err="1">
                <a:ea typeface="+mn-lt"/>
                <a:cs typeface="+mn-lt"/>
              </a:rPr>
              <a:t>conexiones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entrantes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calculado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sobre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una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ventana</a:t>
            </a:r>
            <a:r>
              <a:rPr lang="en-US" sz="2000" dirty="0">
                <a:ea typeface="+mn-lt"/>
                <a:cs typeface="+mn-lt"/>
              </a:rPr>
              <a:t> de </a:t>
            </a:r>
            <a:r>
              <a:rPr lang="en-US" sz="2000" dirty="0" err="1">
                <a:ea typeface="+mn-lt"/>
                <a:cs typeface="+mn-lt"/>
              </a:rPr>
              <a:t>tiempo</a:t>
            </a:r>
            <a:r>
              <a:rPr lang="en-US" sz="2000" dirty="0">
                <a:ea typeface="+mn-lt"/>
                <a:cs typeface="+mn-lt"/>
              </a:rPr>
              <a:t>.</a:t>
            </a:r>
          </a:p>
          <a:p>
            <a:r>
              <a:rPr lang="en-US" sz="2000" dirty="0"/>
              <a:t>Techo de 100 </a:t>
            </a:r>
            <a:r>
              <a:rPr lang="en-US" sz="2000" dirty="0" err="1"/>
              <a:t>conexiones</a:t>
            </a:r>
            <a:r>
              <a:rPr lang="en-US" sz="2000" dirty="0"/>
              <a:t>, el </a:t>
            </a:r>
            <a:r>
              <a:rPr lang="en-US" sz="2000" dirty="0" err="1"/>
              <a:t>aparato</a:t>
            </a:r>
            <a:r>
              <a:rPr lang="en-US" sz="2000" dirty="0"/>
              <a:t> </a:t>
            </a:r>
            <a:r>
              <a:rPr lang="en-US" sz="2000" dirty="0" err="1"/>
              <a:t>fisico</a:t>
            </a:r>
            <a:r>
              <a:rPr lang="en-US" sz="2000" dirty="0"/>
              <a:t> </a:t>
            </a:r>
            <a:r>
              <a:rPr lang="en-US" sz="2000" dirty="0" err="1"/>
              <a:t>ya</a:t>
            </a:r>
            <a:r>
              <a:rPr lang="en-US" sz="2000" dirty="0"/>
              <a:t> no </a:t>
            </a:r>
            <a:r>
              <a:rPr lang="en-US" sz="2000" dirty="0" err="1"/>
              <a:t>puede</a:t>
            </a:r>
            <a:r>
              <a:rPr lang="en-US" sz="2000" dirty="0"/>
              <a:t> </a:t>
            </a:r>
            <a:r>
              <a:rPr lang="en-US" sz="2000" dirty="0" err="1"/>
              <a:t>medir</a:t>
            </a:r>
            <a:r>
              <a:rPr lang="en-US" sz="2000" dirty="0"/>
              <a:t> </a:t>
            </a:r>
            <a:r>
              <a:rPr lang="en-US" sz="2000" dirty="0" err="1"/>
              <a:t>más</a:t>
            </a:r>
            <a:r>
              <a:rPr lang="en-US" sz="2000" dirty="0"/>
              <a:t>.</a:t>
            </a:r>
          </a:p>
          <a:p>
            <a:r>
              <a:rPr lang="en-US" sz="2000" dirty="0"/>
              <a:t>Vista </a:t>
            </a:r>
            <a:r>
              <a:rPr lang="en-US" sz="2000" dirty="0" err="1"/>
              <a:t>perspectiva</a:t>
            </a:r>
            <a:r>
              <a:rPr lang="en-US" sz="2000" dirty="0"/>
              <a:t> de la </a:t>
            </a:r>
            <a:r>
              <a:rPr lang="en-US" sz="2000" dirty="0" err="1"/>
              <a:t>victima</a:t>
            </a:r>
            <a:r>
              <a:rPr lang="en-US" sz="2000" dirty="0"/>
              <a:t>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247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793E8-A811-0766-2B6A-07976AA10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US" sz="2500" dirty="0" err="1"/>
              <a:t>Historigrama</a:t>
            </a:r>
            <a:r>
              <a:rPr lang="en-US" sz="2500" dirty="0"/>
              <a:t> de la </a:t>
            </a:r>
            <a:r>
              <a:rPr lang="en-US" sz="2500" dirty="0" err="1"/>
              <a:t>distribucion</a:t>
            </a:r>
            <a:r>
              <a:rPr lang="en-US" sz="2500" dirty="0"/>
              <a:t> del </a:t>
            </a:r>
            <a:r>
              <a:rPr lang="en-US" sz="2500" dirty="0" err="1"/>
              <a:t>contador</a:t>
            </a:r>
            <a:r>
              <a:rPr lang="en-US" sz="2500" dirty="0"/>
              <a:t> de </a:t>
            </a:r>
            <a:r>
              <a:rPr lang="en-US" sz="2500" dirty="0" err="1"/>
              <a:t>conexiones</a:t>
            </a:r>
            <a:r>
              <a:rPr lang="en-US" sz="2500" dirty="0"/>
              <a:t> </a:t>
            </a:r>
            <a:r>
              <a:rPr lang="en-US" sz="2500" dirty="0" err="1"/>
              <a:t>entrantes</a:t>
            </a:r>
            <a:r>
              <a:rPr lang="en-US" sz="2500" dirty="0"/>
              <a:t> </a:t>
            </a:r>
            <a:r>
              <a:rPr lang="en-US" sz="2500" dirty="0" err="1"/>
              <a:t>por</a:t>
            </a:r>
            <a:r>
              <a:rPr lang="en-US" sz="2500" dirty="0"/>
              <a:t> IP de </a:t>
            </a:r>
            <a:r>
              <a:rPr lang="en-US" sz="2500" dirty="0" err="1"/>
              <a:t>origen</a:t>
            </a:r>
            <a:r>
              <a:rPr lang="en-US" sz="2500" dirty="0"/>
              <a:t>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ontent Placeholder 7">
            <a:extLst>
              <a:ext uri="{FF2B5EF4-FFF2-40B4-BE49-F238E27FC236}">
                <a16:creationId xmlns:a16="http://schemas.microsoft.com/office/drawing/2014/main" id="{9E7678E0-2B7D-07C9-9AE6-5099A15C0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1973592"/>
            <a:ext cx="3664758" cy="3569452"/>
          </a:xfrm>
        </p:spPr>
        <p:txBody>
          <a:bodyPr anchor="ctr">
            <a:normAutofit/>
          </a:bodyPr>
          <a:lstStyle/>
          <a:p>
            <a:r>
              <a:rPr lang="en-US" sz="1800" dirty="0">
                <a:ea typeface="+mn-lt"/>
                <a:cs typeface="+mn-lt"/>
              </a:rPr>
              <a:t>Media: 81.96 (</a:t>
            </a:r>
            <a:r>
              <a:rPr lang="en-US" sz="1800" dirty="0" err="1">
                <a:ea typeface="+mn-lt"/>
                <a:cs typeface="+mn-lt"/>
              </a:rPr>
              <a:t>bastante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más</a:t>
            </a:r>
            <a:r>
              <a:rPr lang="en-US" sz="1800" dirty="0">
                <a:ea typeface="+mn-lt"/>
                <a:cs typeface="+mn-lt"/>
              </a:rPr>
              <a:t> baja </a:t>
            </a:r>
            <a:r>
              <a:rPr lang="en-US" sz="1800" dirty="0" err="1">
                <a:ea typeface="+mn-lt"/>
                <a:cs typeface="+mn-lt"/>
              </a:rPr>
              <a:t>que</a:t>
            </a:r>
            <a:r>
              <a:rPr lang="en-US" sz="1800" dirty="0">
                <a:ea typeface="+mn-lt"/>
                <a:cs typeface="+mn-lt"/>
              </a:rPr>
              <a:t> la del </a:t>
            </a:r>
            <a:r>
              <a:rPr lang="en-US" sz="1800" dirty="0" err="1">
                <a:ea typeface="+mn-lt"/>
                <a:cs typeface="+mn-lt"/>
              </a:rPr>
              <a:t>destino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dirty="0" err="1">
                <a:ea typeface="+mn-lt"/>
                <a:cs typeface="+mn-lt"/>
              </a:rPr>
              <a:t>que</a:t>
            </a:r>
            <a:r>
              <a:rPr lang="en-US" sz="1800" dirty="0">
                <a:ea typeface="+mn-lt"/>
                <a:cs typeface="+mn-lt"/>
              </a:rPr>
              <a:t> era 99.96)</a:t>
            </a:r>
            <a:endParaRPr lang="en-US" sz="1800" dirty="0"/>
          </a:p>
          <a:p>
            <a:r>
              <a:rPr lang="en-US" sz="1800" dirty="0" err="1">
                <a:ea typeface="+mn-lt"/>
                <a:cs typeface="+mn-lt"/>
              </a:rPr>
              <a:t>Desvío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estándar</a:t>
            </a:r>
            <a:r>
              <a:rPr lang="en-US" sz="1800" dirty="0">
                <a:ea typeface="+mn-lt"/>
                <a:cs typeface="+mn-lt"/>
              </a:rPr>
              <a:t>: 24.2 (</a:t>
            </a:r>
            <a:r>
              <a:rPr lang="en-US" sz="1800" dirty="0" err="1">
                <a:ea typeface="+mn-lt"/>
                <a:cs typeface="+mn-lt"/>
              </a:rPr>
              <a:t>mucho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más</a:t>
            </a:r>
            <a:r>
              <a:rPr lang="en-US" sz="1800" dirty="0">
                <a:ea typeface="+mn-lt"/>
                <a:cs typeface="+mn-lt"/>
              </a:rPr>
              <a:t> alto </a:t>
            </a:r>
            <a:r>
              <a:rPr lang="en-US" sz="1800" dirty="0" err="1">
                <a:ea typeface="+mn-lt"/>
                <a:cs typeface="+mn-lt"/>
              </a:rPr>
              <a:t>que</a:t>
            </a:r>
            <a:r>
              <a:rPr lang="en-US" sz="1800" dirty="0">
                <a:ea typeface="+mn-lt"/>
                <a:cs typeface="+mn-lt"/>
              </a:rPr>
              <a:t> el del </a:t>
            </a:r>
            <a:r>
              <a:rPr lang="en-US" sz="1800" dirty="0" err="1">
                <a:ea typeface="+mn-lt"/>
                <a:cs typeface="+mn-lt"/>
              </a:rPr>
              <a:t>destino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dirty="0" err="1">
                <a:ea typeface="+mn-lt"/>
                <a:cs typeface="+mn-lt"/>
              </a:rPr>
              <a:t>que</a:t>
            </a:r>
            <a:r>
              <a:rPr lang="en-US" sz="1800" dirty="0">
                <a:ea typeface="+mn-lt"/>
                <a:cs typeface="+mn-lt"/>
              </a:rPr>
              <a:t> era 1.39)</a:t>
            </a:r>
            <a:endParaRPr lang="en-US" dirty="0"/>
          </a:p>
          <a:p>
            <a:r>
              <a:rPr lang="en-US" sz="1800" dirty="0">
                <a:ea typeface="+mn-lt"/>
                <a:cs typeface="+mn-lt"/>
              </a:rPr>
              <a:t>Mediana: 97, </a:t>
            </a:r>
            <a:r>
              <a:rPr lang="en-US" sz="1800" dirty="0" err="1">
                <a:ea typeface="+mn-lt"/>
                <a:cs typeface="+mn-lt"/>
              </a:rPr>
              <a:t>percentil</a:t>
            </a:r>
            <a:r>
              <a:rPr lang="en-US" sz="1800" dirty="0">
                <a:ea typeface="+mn-lt"/>
                <a:cs typeface="+mn-lt"/>
              </a:rPr>
              <a:t> 25: 68, </a:t>
            </a:r>
            <a:r>
              <a:rPr lang="en-US" sz="1800" dirty="0" err="1">
                <a:ea typeface="+mn-lt"/>
                <a:cs typeface="+mn-lt"/>
              </a:rPr>
              <a:t>percentil</a:t>
            </a:r>
            <a:r>
              <a:rPr lang="en-US" sz="1800" dirty="0">
                <a:ea typeface="+mn-lt"/>
                <a:cs typeface="+mn-lt"/>
              </a:rPr>
              <a:t> 75: 100, </a:t>
            </a:r>
            <a:r>
              <a:rPr lang="en-US" sz="1800" dirty="0" err="1">
                <a:ea typeface="+mn-lt"/>
                <a:cs typeface="+mn-lt"/>
              </a:rPr>
              <a:t>mínimo</a:t>
            </a:r>
            <a:r>
              <a:rPr lang="en-US" sz="1800" dirty="0">
                <a:ea typeface="+mn-lt"/>
                <a:cs typeface="+mn-lt"/>
              </a:rPr>
              <a:t>: 1</a:t>
            </a:r>
            <a:endParaRPr lang="en-US" sz="1800" dirty="0"/>
          </a:p>
          <a:p>
            <a:endParaRPr lang="en-US" sz="18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9915EA-BC35-CD16-ED0A-8A37268DDD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17316" y="20128"/>
            <a:ext cx="7260047" cy="624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064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14D801D-1D03-7CDE-A067-83CC6E15E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s-ES" sz="5200"/>
              <a:t>Conclusiones: Patrones encontrados</a:t>
            </a:r>
          </a:p>
        </p:txBody>
      </p:sp>
      <p:graphicFrame>
        <p:nvGraphicFramePr>
          <p:cNvPr id="28" name="Marcador de contenido 2">
            <a:extLst>
              <a:ext uri="{FF2B5EF4-FFF2-40B4-BE49-F238E27FC236}">
                <a16:creationId xmlns:a16="http://schemas.microsoft.com/office/drawing/2014/main" id="{235C9729-B1AE-331B-E5C1-6DF68D1CCD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416895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3392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36033B8-B38C-3C8A-1CD0-15E78FBA5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ES" sz="4800"/>
              <a:t>Limitaciones y falta de datos ante nuevas hipotesis.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05FC9A-4DB6-FCE7-380F-D4B1DA722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083" y="2586203"/>
            <a:ext cx="10832716" cy="4073561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z="2000" dirty="0" err="1"/>
              <a:t>Dataset</a:t>
            </a:r>
            <a:r>
              <a:rPr lang="es-ES" sz="2000" dirty="0"/>
              <a:t> con limites en las variables de contadores. </a:t>
            </a:r>
            <a:r>
              <a:rPr lang="es-ES" sz="2000" dirty="0">
                <a:ea typeface="+mn-lt"/>
                <a:cs typeface="+mn-lt"/>
              </a:rPr>
              <a:t>El máximo registrable es 100, la naturaleza exacta del límite no está documentada</a:t>
            </a:r>
            <a:endParaRPr lang="en-US" dirty="0"/>
          </a:p>
          <a:p>
            <a:r>
              <a:rPr lang="es-ES" sz="2000" dirty="0"/>
              <a:t>Trafico ARP </a:t>
            </a:r>
            <a:r>
              <a:rPr lang="es-ES" sz="2000" dirty="0" err="1"/>
              <a:t>anomalo</a:t>
            </a:r>
            <a:r>
              <a:rPr lang="es-ES" sz="2000" dirty="0"/>
              <a:t>: grafico de falta de datos.</a:t>
            </a:r>
            <a:endParaRPr lang="en-US"/>
          </a:p>
          <a:p>
            <a:pPr lvl="3"/>
            <a:r>
              <a:rPr lang="es-ES" sz="2000" dirty="0"/>
              <a:t>Trafico ARP detectado que no corresponde al trafico </a:t>
            </a:r>
            <a:r>
              <a:rPr lang="es-ES" sz="2000" dirty="0" err="1"/>
              <a:t>periodico</a:t>
            </a:r>
            <a:r>
              <a:rPr lang="es-ES" sz="2000" dirty="0"/>
              <a:t> normal del ARP.</a:t>
            </a:r>
          </a:p>
          <a:p>
            <a:pPr lvl="4">
              <a:buFont typeface="Courier New" panose="020B0604020202020204" pitchFamily="34" charset="0"/>
              <a:buChar char="o"/>
            </a:pPr>
            <a:r>
              <a:rPr lang="es-ES" sz="2000" dirty="0"/>
              <a:t>Posibles causas:</a:t>
            </a:r>
          </a:p>
          <a:p>
            <a:pPr marL="3086100" lvl="6" indent="-342900">
              <a:buAutoNum type="arabicParenR"/>
            </a:pPr>
            <a:r>
              <a:rPr lang="es-ES" sz="2000" dirty="0"/>
              <a:t>Trafico de red estancado.</a:t>
            </a:r>
          </a:p>
          <a:p>
            <a:pPr marL="3086100" lvl="6" indent="-342900">
              <a:buAutoNum type="arabicParenR"/>
            </a:pPr>
            <a:r>
              <a:rPr lang="es-ES" sz="2000" dirty="0"/>
              <a:t>Cortina de Humo para un posible </a:t>
            </a:r>
            <a:r>
              <a:rPr lang="es-ES" sz="2000" dirty="0" err="1"/>
              <a:t>Envenamiento</a:t>
            </a:r>
            <a:r>
              <a:rPr lang="es-ES" sz="2000" dirty="0"/>
              <a:t> ARP.</a:t>
            </a:r>
          </a:p>
          <a:p>
            <a:pPr marL="0" indent="0">
              <a:buNone/>
            </a:pPr>
            <a:endParaRPr lang="es-ES" sz="2000" dirty="0"/>
          </a:p>
          <a:p>
            <a:r>
              <a:rPr lang="es-ES" sz="2000" dirty="0"/>
              <a:t>Falta de datos para cerciorar si el ataque </a:t>
            </a:r>
            <a:r>
              <a:rPr lang="es-ES" sz="2000" dirty="0" err="1"/>
              <a:t>DDoS</a:t>
            </a:r>
            <a:r>
              <a:rPr lang="es-ES" sz="2000" dirty="0"/>
              <a:t> se hizo en un entorno controlado o no.</a:t>
            </a:r>
          </a:p>
          <a:p>
            <a:pPr lvl="3"/>
            <a:r>
              <a:rPr lang="es-ES" sz="2000" dirty="0"/>
              <a:t>La </a:t>
            </a:r>
            <a:r>
              <a:rPr lang="es-ES" sz="2000" dirty="0" err="1"/>
              <a:t>informacion</a:t>
            </a:r>
            <a:r>
              <a:rPr lang="es-ES" sz="2000" dirty="0"/>
              <a:t> del </a:t>
            </a:r>
            <a:r>
              <a:rPr lang="es-ES" sz="2000" dirty="0" err="1"/>
              <a:t>dataset</a:t>
            </a:r>
            <a:r>
              <a:rPr lang="es-ES" sz="2000" dirty="0"/>
              <a:t> es valida pero carecemos se datos mayores sobre su contexto.</a:t>
            </a:r>
          </a:p>
          <a:p>
            <a:endParaRPr lang="es-ES" sz="17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8366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10891D7-3DAA-8455-4160-76D740AC0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642" y="1627"/>
            <a:ext cx="9849751" cy="1349671"/>
          </a:xfrm>
        </p:spPr>
        <p:txBody>
          <a:bodyPr anchor="b">
            <a:normAutofit/>
          </a:bodyPr>
          <a:lstStyle/>
          <a:p>
            <a:r>
              <a:rPr lang="es-ES" sz="6600" dirty="0"/>
              <a:t>¿Qué prosigue?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E2BD00-3F89-90CB-A59E-978234D99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984" y="1350159"/>
            <a:ext cx="10281071" cy="472869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s-ES" sz="2000" dirty="0"/>
              <a:t>Repeler un ataque </a:t>
            </a:r>
            <a:r>
              <a:rPr lang="es-ES" sz="2000" dirty="0" err="1"/>
              <a:t>DDoS</a:t>
            </a:r>
            <a:r>
              <a:rPr lang="es-ES" sz="2000" dirty="0"/>
              <a:t> suele costar mucho dinero debido a su facilidad de inicio, alcance y </a:t>
            </a:r>
            <a:r>
              <a:rPr lang="es-ES" sz="2000" dirty="0" err="1"/>
              <a:t>propagacion</a:t>
            </a:r>
            <a:r>
              <a:rPr lang="es-ES" sz="2000" dirty="0"/>
              <a:t>.</a:t>
            </a:r>
          </a:p>
          <a:p>
            <a:pPr marL="0" indent="0">
              <a:buNone/>
            </a:pPr>
            <a:r>
              <a:rPr lang="es-ES" sz="2000" dirty="0"/>
              <a:t>Se pueden tomar diferentes medidas cautelares:</a:t>
            </a:r>
          </a:p>
          <a:p>
            <a:pPr marL="514350" indent="-514350">
              <a:buAutoNum type="arabicParenR"/>
            </a:pPr>
            <a:r>
              <a:rPr lang="es-ES" sz="2000" dirty="0"/>
              <a:t>Reducir la exposición de la superficie de ataque, bloquear trafico y puertos de poco uso.</a:t>
            </a:r>
          </a:p>
          <a:p>
            <a:pPr marL="514350" indent="-514350">
              <a:buAutoNum type="arabicParenR"/>
            </a:pPr>
            <a:r>
              <a:rPr lang="es-ES" sz="2000" dirty="0"/>
              <a:t>Poner una esponja: Una red </a:t>
            </a:r>
            <a:r>
              <a:rPr lang="es-ES" sz="2000" err="1"/>
              <a:t>AnyCast</a:t>
            </a:r>
            <a:r>
              <a:rPr lang="es-ES" sz="2000" dirty="0"/>
              <a:t> aumenta la superficie de red, </a:t>
            </a:r>
            <a:r>
              <a:rPr lang="es-ES" sz="2000" err="1"/>
              <a:t>absorviendo</a:t>
            </a:r>
            <a:r>
              <a:rPr lang="es-ES" sz="2000" dirty="0"/>
              <a:t> ella los flujos de red iniciales.</a:t>
            </a:r>
          </a:p>
          <a:p>
            <a:pPr marL="514350" indent="-514350">
              <a:buAutoNum type="arabicParenR"/>
            </a:pPr>
            <a:r>
              <a:rPr lang="es-ES" sz="2000" dirty="0"/>
              <a:t>Monitoreo de actividad de red en tiempo real.</a:t>
            </a:r>
          </a:p>
          <a:p>
            <a:pPr marL="514350" indent="-514350">
              <a:buAutoNum type="arabicParenR"/>
            </a:pPr>
            <a:r>
              <a:rPr lang="es-ES" sz="2000" dirty="0"/>
              <a:t>Firewall personalizado a las necesidades de la empresa.</a:t>
            </a:r>
          </a:p>
          <a:p>
            <a:pPr marL="0" indent="0">
              <a:buNone/>
            </a:pPr>
            <a:r>
              <a:rPr lang="es-ES" sz="2000" dirty="0"/>
              <a:t>Estas medidas son mas económicas que contratar un Mitigador de </a:t>
            </a:r>
            <a:r>
              <a:rPr lang="es-ES" sz="2000" dirty="0" err="1"/>
              <a:t>DDoS</a:t>
            </a:r>
            <a:r>
              <a:rPr lang="es-ES" sz="2000" dirty="0"/>
              <a:t>. Pero su contratación esta más que recomendada.</a:t>
            </a:r>
          </a:p>
          <a:p>
            <a:pPr marL="0" indent="0">
              <a:buNone/>
            </a:pPr>
            <a:endParaRPr lang="es-ES" sz="2000" dirty="0"/>
          </a:p>
          <a:p>
            <a:pPr marL="514350" indent="-514350">
              <a:buAutoNum type="arabicParenR"/>
            </a:pPr>
            <a:endParaRPr lang="es-ES" sz="1800"/>
          </a:p>
        </p:txBody>
      </p:sp>
    </p:spTree>
    <p:extLst>
      <p:ext uri="{BB962C8B-B14F-4D97-AF65-F5344CB8AC3E}">
        <p14:creationId xmlns:p14="http://schemas.microsoft.com/office/powerpoint/2010/main" val="1351117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391FEA-C156-67BC-098F-94FA0A974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5793" y="2143854"/>
            <a:ext cx="6715487" cy="1277784"/>
          </a:xfrm>
        </p:spPr>
        <p:txBody>
          <a:bodyPr anchor="b">
            <a:normAutofit/>
          </a:bodyPr>
          <a:lstStyle/>
          <a:p>
            <a:r>
              <a:rPr lang="en-US" sz="5400"/>
              <a:t>¡Gracias Comunidad IT!</a:t>
            </a:r>
          </a:p>
        </p:txBody>
      </p:sp>
    </p:spTree>
    <p:extLst>
      <p:ext uri="{BB962C8B-B14F-4D97-AF65-F5344CB8AC3E}">
        <p14:creationId xmlns:p14="http://schemas.microsoft.com/office/powerpoint/2010/main" val="3079095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Tema de Office</vt:lpstr>
      <vt:lpstr>Ataque de Denegación de Servicios Distribuido (DDoS)</vt:lpstr>
      <vt:lpstr>Objetivo.</vt:lpstr>
      <vt:lpstr>Contexto del Dataset.</vt:lpstr>
      <vt:lpstr>Metodologia de la investigacion:</vt:lpstr>
      <vt:lpstr>Limpieza y tratamiento de valores.</vt:lpstr>
      <vt:lpstr>¿Como se produce un ataque?</vt:lpstr>
      <vt:lpstr>Patron n°1, desbalance en taza de paquetes por puerto.</vt:lpstr>
      <vt:lpstr>PowerPoint Presentation</vt:lpstr>
      <vt:lpstr>Ranking IP's atacantes: </vt:lpstr>
      <vt:lpstr>Patron n°2, desbalance de conexiones.</vt:lpstr>
      <vt:lpstr>Desbalance en conexiones: IP Origen vs Destino</vt:lpstr>
      <vt:lpstr>Saturacion del contador de conexiones entrantes.</vt:lpstr>
      <vt:lpstr>Historigrama de la distribucion del contador de conexiones entrantes por IP de origen.</vt:lpstr>
      <vt:lpstr>Conclusiones: Patrones encontrados</vt:lpstr>
      <vt:lpstr>Limitaciones y falta de datos ante nuevas hipotesis.</vt:lpstr>
      <vt:lpstr>¿Qué prosigue?</vt:lpstr>
      <vt:lpstr>¡Gracias Comunidad IT!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1078</cp:revision>
  <dcterms:created xsi:type="dcterms:W3CDTF">2026-09-09T20:28:51Z</dcterms:created>
  <dcterms:modified xsi:type="dcterms:W3CDTF">2026-09-14T22:53:32Z</dcterms:modified>
</cp:coreProperties>
</file>